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64fa2090a84896" /><Relationship Type="http://schemas.openxmlformats.org/officeDocument/2006/relationships/extended-properties" Target="/docProps/app.xml" Id="R10a706f63a0d4760" /><Relationship Type="http://schemas.openxmlformats.org/officeDocument/2006/relationships/officeDocument" Target="/ppt/presentation.xml" Id="R777cb76752b046a4" /></Relationships>
</file>

<file path=ppt/presentation.xml><?xml version="1.0" encoding="utf-8"?>
<p:presentation xmlns:p="http://schemas.openxmlformats.org/presentationml/2006/main">
  <p:sldMasterIdLst>
    <p:sldMasterId xmlns:r="http://schemas.openxmlformats.org/officeDocument/2006/relationships" id="2147483648" r:id="R80c28a8052804b5a"/>
  </p:sldMasterIdLst>
  <p:notesMasterIdLst>
    <p:notesMasterId xmlns:r="http://schemas.openxmlformats.org/officeDocument/2006/relationships" r:id="Rf6fc28168c4d4932"/>
  </p:notesMasterIdLst>
  <p:sldIdLst>
    <p:sldId xmlns:r="http://schemas.openxmlformats.org/officeDocument/2006/relationships" id="256" r:id="R2b42ad78cd934f11"/>
    <p:sldId xmlns:r="http://schemas.openxmlformats.org/officeDocument/2006/relationships" id="257" r:id="R0a81d986678a4d14"/>
    <p:sldId xmlns:r="http://schemas.openxmlformats.org/officeDocument/2006/relationships" id="258" r:id="R6e914eaf76024a50"/>
    <p:sldId xmlns:r="http://schemas.openxmlformats.org/officeDocument/2006/relationships" id="259" r:id="Rd98f6a2d50034c71"/>
    <p:sldId xmlns:r="http://schemas.openxmlformats.org/officeDocument/2006/relationships" id="260" r:id="Raeccc7c056ac48d6"/>
    <p:sldId xmlns:r="http://schemas.openxmlformats.org/officeDocument/2006/relationships" id="261" r:id="Rbe23b536294f4fad"/>
    <p:sldId xmlns:r="http://schemas.openxmlformats.org/officeDocument/2006/relationships" id="262" r:id="Raf0189de9dcb415d"/>
    <p:sldId xmlns:r="http://schemas.openxmlformats.org/officeDocument/2006/relationships" id="263" r:id="Rfcc91891c0e7447a"/>
    <p:sldId xmlns:r="http://schemas.openxmlformats.org/officeDocument/2006/relationships" id="264" r:id="R328138485df24d3b"/>
    <p:sldId xmlns:r="http://schemas.openxmlformats.org/officeDocument/2006/relationships" id="265" r:id="R2407031ab7894f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c7a81a60e94472" /><Relationship Type="http://schemas.openxmlformats.org/officeDocument/2006/relationships/slideMaster" Target="/ppt/slideMasters/slideMaster1.xml" Id="R80c28a8052804b5a" /><Relationship Type="http://schemas.openxmlformats.org/officeDocument/2006/relationships/notesMaster" Target="/ppt/notesMasters/notesMaster1.xml" Id="Rf6fc28168c4d4932" /><Relationship Type="http://schemas.openxmlformats.org/officeDocument/2006/relationships/presProps" Target="/ppt/presProps.xml" Id="Ra12b62fe694f489b" /><Relationship Type="http://schemas.openxmlformats.org/officeDocument/2006/relationships/tableStyles" Target="/ppt/tableStyles.xml" Id="Ra19b1c4a5fde447b" /><Relationship Type="http://schemas.openxmlformats.org/officeDocument/2006/relationships/slide" Target="/ppt/slides/slide1.xml" Id="R2b42ad78cd934f11" /><Relationship Type="http://schemas.openxmlformats.org/officeDocument/2006/relationships/slide" Target="/ppt/slides/slide2.xml" Id="R0a81d986678a4d14" /><Relationship Type="http://schemas.openxmlformats.org/officeDocument/2006/relationships/slide" Target="/ppt/slides/slide3.xml" Id="R6e914eaf76024a50" /><Relationship Type="http://schemas.openxmlformats.org/officeDocument/2006/relationships/slide" Target="/ppt/slides/slide4.xml" Id="Rd98f6a2d50034c71" /><Relationship Type="http://schemas.openxmlformats.org/officeDocument/2006/relationships/slide" Target="/ppt/slides/slide5.xml" Id="Raeccc7c056ac48d6" /><Relationship Type="http://schemas.openxmlformats.org/officeDocument/2006/relationships/slide" Target="/ppt/slides/slide6.xml" Id="Rbe23b536294f4fad" /><Relationship Type="http://schemas.openxmlformats.org/officeDocument/2006/relationships/slide" Target="/ppt/slides/slide7.xml" Id="Raf0189de9dcb415d" /><Relationship Type="http://schemas.openxmlformats.org/officeDocument/2006/relationships/slide" Target="/ppt/slides/slide8.xml" Id="Rfcc91891c0e7447a" /><Relationship Type="http://schemas.openxmlformats.org/officeDocument/2006/relationships/slide" Target="/ppt/slides/slide9.xml" Id="R328138485df24d3b" /><Relationship Type="http://schemas.openxmlformats.org/officeDocument/2006/relationships/slide" Target="/ppt/slides/slide10.xml" Id="R2407031ab7894f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54e642b0684f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102bbf92fb4b36" /><Relationship Type="http://schemas.openxmlformats.org/officeDocument/2006/relationships/notesMaster" Target="/ppt/notesMasters/notesMaster1.xml" Id="R8a180bb0f96f47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11baf998da4b69" /><Relationship Type="http://schemas.openxmlformats.org/officeDocument/2006/relationships/notesMaster" Target="/ppt/notesMasters/notesMaster1.xml" Id="R4cee0ccdd0bc4c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2965a76b0e427c" /><Relationship Type="http://schemas.openxmlformats.org/officeDocument/2006/relationships/notesMaster" Target="/ppt/notesMasters/notesMaster1.xml" Id="Rfc6029e8575048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ba40c8081b403e" /><Relationship Type="http://schemas.openxmlformats.org/officeDocument/2006/relationships/notesMaster" Target="/ppt/notesMasters/notesMaster1.xml" Id="R68b4957ac74949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182d730a0146d6" /><Relationship Type="http://schemas.openxmlformats.org/officeDocument/2006/relationships/notesMaster" Target="/ppt/notesMasters/notesMaster1.xml" Id="R40871a3fc6a24c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cd4a5222f14e45" /><Relationship Type="http://schemas.openxmlformats.org/officeDocument/2006/relationships/notesMaster" Target="/ppt/notesMasters/notesMaster1.xml" Id="R8fa1f9ddf97846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74a38de9534ba8" /><Relationship Type="http://schemas.openxmlformats.org/officeDocument/2006/relationships/notesMaster" Target="/ppt/notesMasters/notesMaster1.xml" Id="Rbc8fd067ede944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34a6b97a434dc8" /><Relationship Type="http://schemas.openxmlformats.org/officeDocument/2006/relationships/notesMaster" Target="/ppt/notesMasters/notesMaster1.xml" Id="R8353e3d12bce4d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70b9175d09436e" /><Relationship Type="http://schemas.openxmlformats.org/officeDocument/2006/relationships/notesMaster" Target="/ppt/notesMasters/notesMaster1.xml" Id="R350246249f0544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d1f59a41834729" /><Relationship Type="http://schemas.openxmlformats.org/officeDocument/2006/relationships/notesMaster" Target="/ppt/notesMasters/notesMaster1.xml" Id="Rb2314fb1056c4f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Yagub, about 45 seconds. We study property listings from bina.az. We use a decision tree to predict the asking price. We also use a tree and an SVM to predict the price tier. The main algorithms use NumPy. We compare the results with scikit-learn. Today we explain the data, the models, and their limits.</a:t>
            </a:r>
          </a:p>
          <a:p xmlns:a="http://schemas.openxmlformats.org/drawingml/2006/main">
            <a:r>
              <a:t/>
            </a:r>
          </a:p>
          <a:p xmlns:a="http://schemas.openxmlformats.org/drawingml/2006/main">
            <a:r>
              <a:t>Possible question</a:t>
            </a:r>
          </a:p>
          <a:p xmlns:a="http://schemas.openxmlformats.org/drawingml/2006/main">
            <a:r>
              <a:t>Are these actual sale prices? No. They are asking prices from property advertisements.</a:t>
            </a:r>
          </a:p>
          <a:p xmlns:a="http://schemas.openxmlformats.org/drawingml/2006/main">
            <a:r>
              <a:t/>
            </a:r>
          </a:p>
          <a:p xmlns:a="http://schemas.openxmlformats.org/drawingml/2006/main">
            <a:r>
              <a:t>Sources</a:t>
            </a:r>
          </a:p>
          <a:p xmlns:a="http://schemas.openxmlformats.org/drawingml/2006/main">
            <a:r>
              <a:t>README.md; src/decision_tree.py; src/svm.py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Yagub, about 90 seconds. The raw file has 100,775 rows. After cleaning, 64,454 remain. Cleaning removes 36,321 repeated listing snapshots. Regression predicts a number in AZN. Classification predicts a class. We calculate the median from the training data only. A price above 210,000 is premium. A price equal to the median is standard. This label is a definition for this experiment.</a:t>
            </a:r>
          </a:p>
          <a:p xmlns:a="http://schemas.openxmlformats.org/drawingml/2006/main">
            <a:r>
              <a:t/>
            </a:r>
          </a:p>
          <a:p xmlns:a="http://schemas.openxmlformats.org/drawingml/2006/main">
            <a:r>
              <a:t>Possible question</a:t>
            </a:r>
          </a:p>
          <a:p xmlns:a="http://schemas.openxmlformats.org/drawingml/2006/main">
            <a:r>
              <a:t>Why use log price? Prices have a long tail. Logs reduce the effect of scale during training. We still evaluate errors in AZN.</a:t>
            </a:r>
          </a:p>
          <a:p xmlns:a="http://schemas.openxmlformats.org/drawingml/2006/main">
            <a:r>
              <a:t/>
            </a:r>
          </a:p>
          <a:p xmlns:a="http://schemas.openxmlformats.org/drawingml/2006/main">
            <a:r>
              <a:t>Sources</a:t>
            </a:r>
          </a:p>
          <a:p xmlns:a="http://schemas.openxmlformats.org/drawingml/2006/main">
            <a:r>
              <a:t>data/README.md; report/figures/results/cleaning.json; run_metadata.json; https://www.kaggle.com/datasets/sehriyarmemmedli/binaaz-sale-project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Yagub, about 2 minutes. We keep the first snapshot for each listing URL. We convert area units to square metres. We use only positive AZN prices. Missing numeric values use training medians. Numeric clipping uses the training 1st and 99th percentiles. We learn categories on training rows. Unknown categories produce zero indicators. The final input has 179 features. The SVM also uses training means and standard deviations. We remove unit_price and total_price because they contain the answer. We keep extreme target prices, so we must discuss their effect.</a:t>
            </a:r>
          </a:p>
          <a:p xmlns:a="http://schemas.openxmlformats.org/drawingml/2006/main">
            <a:r>
              <a:t/>
            </a:r>
          </a:p>
          <a:p xmlns:a="http://schemas.openxmlformats.org/drawingml/2006/main">
            <a:r>
              <a:t>Possible question</a:t>
            </a:r>
          </a:p>
          <a:p xmlns:a="http://schemas.openxmlformats.org/drawingml/2006/main">
            <a:r>
              <a:t>Why fit preprocessing only on training data? Validation and test must not influence the training representation. Why remove IDs? They do not describe the property in a useful general way.</a:t>
            </a:r>
          </a:p>
          <a:p xmlns:a="http://schemas.openxmlformats.org/drawingml/2006/main">
            <a:r>
              <a:t/>
            </a:r>
          </a:p>
          <a:p xmlns:a="http://schemas.openxmlformats.org/drawingml/2006/main">
            <a:r>
              <a:t>Sources</a:t>
            </a:r>
          </a:p>
          <a:p xmlns:a="http://schemas.openxmlformats.org/drawingml/2006/main">
            <a:r>
              <a:t>src/data_prep.py; report/figures/results/cleaning.json; run_metadata.json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Ruslan, about 2 minutes. A decision tree asks a sequence of simple questions. For example, is area below a chosen threshold? The algorithm searches sorted feature values and chooses the split with the largest weighted impurity reduction. Regression uses MSE on log price. Classification supports Gini and entropy. Validation selects Gini for the final classification tree. Maximum depth and minimum leaf size control complexity. The regression leaf stores the mean log price. We use the exponential to return to AZN. There is no bias correction, so this is not exactly the arithmetic mean price.</a:t>
            </a:r>
          </a:p>
          <a:p xmlns:a="http://schemas.openxmlformats.org/drawingml/2006/main">
            <a:r>
              <a:t/>
            </a:r>
          </a:p>
          <a:p xmlns:a="http://schemas.openxmlformats.org/drawingml/2006/main">
            <a:r>
              <a:t>Possible question</a:t>
            </a:r>
          </a:p>
          <a:p xmlns:a="http://schemas.openxmlformats.org/drawingml/2006/main">
            <a:r>
              <a:t>Why not choose the lowest training error? A deeper tree can learn details that do not transfer. Depth 18 with leaf 5 has validation log-RMSE 0.4023. Leaf 20 improves it to 0.3814.</a:t>
            </a:r>
          </a:p>
          <a:p xmlns:a="http://schemas.openxmlformats.org/drawingml/2006/main">
            <a:r>
              <a:t/>
            </a:r>
          </a:p>
          <a:p xmlns:a="http://schemas.openxmlformats.org/drawingml/2006/main">
            <a:r>
              <a:t>Sources</a:t>
            </a:r>
          </a:p>
          <a:p xmlns:a="http://schemas.openxmlformats.org/drawingml/2006/main">
            <a:r>
              <a:t>src/decision_tree.py; report/figures/results/selected_config.json; tuning.csv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Elmir, about 2 minutes. We map labels to minus one and plus one. The score is w dot x plus b. Hinge loss is zero when the signed margin is at least one. Pegasos uses mini-batches of 256. The update shrinks weights by one minus eta times lambda, then adds the average y times x for points inside the margin. We update the bias separately and do not regularize it. We project w to a ball of radius one over square root lambda. RFF transforms the standardized input into cosine features. It approximates an RBF kernel without a full kernel matrix. The decision rule remains linear in the new feature space.</a:t>
            </a:r>
          </a:p>
          <a:p xmlns:a="http://schemas.openxmlformats.org/drawingml/2006/main">
            <a:r>
              <a:t/>
            </a:r>
          </a:p>
          <a:p xmlns:a="http://schemas.openxmlformats.org/drawingml/2006/main">
            <a:r>
              <a:t>Possible question</a:t>
            </a:r>
          </a:p>
          <a:p xmlns:a="http://schemas.openxmlformats.org/drawingml/2006/main">
            <a:r>
              <a:t>Does RFF always improve accuracy? No. Its performance depends on the data and settings. Our linear SVM has slightly better test F1. What is a support point here? A training point with signed margin at most one, not an exact dual support vector.</a:t>
            </a:r>
          </a:p>
          <a:p xmlns:a="http://schemas.openxmlformats.org/drawingml/2006/main">
            <a:r>
              <a:t/>
            </a:r>
          </a:p>
          <a:p xmlns:a="http://schemas.openxmlformats.org/drawingml/2006/main">
            <a:r>
              <a:t>Sources</a:t>
            </a:r>
          </a:p>
          <a:p xmlns:a="http://schemas.openxmlformats.org/drawingml/2006/main">
            <a:r>
              <a:t>src/svm.py; src/run_all.py; selected_config.json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Elmir, about 90 seconds. We keep a fixed training partition. The remaining rows are split by the tier label into validation and test. We select regression settings by validation log-RMSE and classification settings by validation F1. Three-fold cross-validation uses only training data and fixed selected configurations. The tree classification CV F1 is 0.9042 plus or minus 0.0006. The regression CV log-RMSE is 0.4020 plus or minus 0.0064. These are fold variations, not confidence intervals. The scikit-learn SVM baseline is SGDClassifier with hinge loss. It shares regularization, epochs, scaling and RFF mapping, but uses a different optimizer. We observed historical test results during development, so this is not a fresh blind test.</a:t>
            </a:r>
          </a:p>
          <a:p xmlns:a="http://schemas.openxmlformats.org/drawingml/2006/main">
            <a:r>
              <a:t/>
            </a:r>
          </a:p>
          <a:p xmlns:a="http://schemas.openxmlformats.org/drawingml/2006/main">
            <a:r>
              <a:t>Possible question</a:t>
            </a:r>
          </a:p>
          <a:p xmlns:a="http://schemas.openxmlformats.org/drawingml/2006/main">
            <a:r>
              <a:t>How do we reproduce results? Install requirements, place house_sale.csv in data, then run python -m src.run_all --data data/house_sale.csv. Built-in checks use --check.</a:t>
            </a:r>
          </a:p>
          <a:p xmlns:a="http://schemas.openxmlformats.org/drawingml/2006/main">
            <a:r>
              <a:t/>
            </a:r>
          </a:p>
          <a:p xmlns:a="http://schemas.openxmlformats.org/drawingml/2006/main">
            <a:r>
              <a:t>Sources</a:t>
            </a:r>
          </a:p>
          <a:p xmlns:a="http://schemas.openxmlformats.org/drawingml/2006/main">
            <a:r>
              <a:t>src/run_all.py; report/figures/results/cv_summary.csv; run_metadata.json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Ruslan, about 90 seconds. This chart compares test F1. The NumPy tree has F1 0.9068 and ROC-AUC 0.9594. Its precision is 0.8966 and recall is 0.9171. The scikit-learn tree gives almost the same result. Both SVM versions also give similar results to their baselines. Similar numbers support our implementation, but do not prove that every possible case is correct. F1 balances precision and recall. ROC-AUC measures ranking across thresholds. Neither number is the same as accuracy.</a:t>
            </a:r>
          </a:p>
          <a:p xmlns:a="http://schemas.openxmlformats.org/drawingml/2006/main">
            <a:r>
              <a:t/>
            </a:r>
          </a:p>
          <a:p xmlns:a="http://schemas.openxmlformats.org/drawingml/2006/main">
            <a:r>
              <a:t>Possible question</a:t>
            </a:r>
          </a:p>
          <a:p xmlns:a="http://schemas.openxmlformats.org/drawingml/2006/main">
            <a:r>
              <a:t>Why does the tree win? The observed result suggests its threshold splits fit these features better under the tested settings. We cannot claim it will win on every dataset.</a:t>
            </a:r>
          </a:p>
          <a:p xmlns:a="http://schemas.openxmlformats.org/drawingml/2006/main">
            <a:r>
              <a:t/>
            </a:r>
          </a:p>
          <a:p xmlns:a="http://schemas.openxmlformats.org/drawingml/2006/main">
            <a:r>
              <a:t>Sources</a:t>
            </a:r>
          </a:p>
          <a:p xmlns:a="http://schemas.openxmlformats.org/drawingml/2006/main">
            <a:r>
              <a:t>report/figures/results/metrics.csv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Elmir, about 2 minutes. Lower errors are better. The tree test log-RMSE is 0.4102, versus 0.8360 for a constant training median. Test MAE falls from 287,621 to 185,430 AZN, about 35.5 percent. Validation also improves. This shows useful learning. But raw-price RMSE is 6.18 million AZN and R squared is only 0.0105. We should report both strengths and weaknesses. The scikit-learn regression tree is almost identical: log-RMSE 0.4101 and R squared 0.0105. Training on logs does not directly minimize AZN squared error.</a:t>
            </a:r>
          </a:p>
          <a:p xmlns:a="http://schemas.openxmlformats.org/drawingml/2006/main">
            <a:r>
              <a:t/>
            </a:r>
          </a:p>
          <a:p xmlns:a="http://schemas.openxmlformats.org/drawingml/2006/main">
            <a:r>
              <a:t>Possible question</a:t>
            </a:r>
          </a:p>
          <a:p xmlns:a="http://schemas.openxmlformats.org/drawingml/2006/main">
            <a:r>
              <a:t>Is log-RMSE 0.4102 a 41 percent error? No. It is an error on the natural-log scale. MAE is easier to interpret directly in AZN.</a:t>
            </a:r>
          </a:p>
          <a:p xmlns:a="http://schemas.openxmlformats.org/drawingml/2006/main">
            <a:r>
              <a:t/>
            </a:r>
          </a:p>
          <a:p xmlns:a="http://schemas.openxmlformats.org/drawingml/2006/main">
            <a:r>
              <a:t>Sources</a:t>
            </a:r>
          </a:p>
          <a:p xmlns:a="http://schemas.openxmlformats.org/drawingml/2006/main">
            <a:r>
              <a:t>report/figures/results/metrics.csv; regression_baselines.csv; tuning.csv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Ruslan, about 2 minutes. We inspected a 600 million AZN listing for a 200 square metre apartment. The raw price, total price and unit price agree, but that does not prove the advertisement is correct. A second apartment has 60 million AZN for 50 square metres. We cannot guess corrected values. The 994 test listings above the training 90th percentile account for about 99.97 percent of squared error. This percentage comes from group size times group RMSE squared. It does not mean all 994 listings are incorrect. Even the lower-price group has weak R squared, about 0.0422. We should not delete test examples just to improve the score. A next study could verify suspicious listings and evaluate on a new time period. Different listing URLs may also describe the same property.</a:t>
            </a:r>
          </a:p>
          <a:p xmlns:a="http://schemas.openxmlformats.org/drawingml/2006/main">
            <a:r>
              <a:t/>
            </a:r>
          </a:p>
          <a:p xmlns:a="http://schemas.openxmlformats.org/drawingml/2006/main">
            <a:r>
              <a:t>Possible question</a:t>
            </a:r>
          </a:p>
          <a:p xmlns:a="http://schemas.openxmlformats.org/drawingml/2006/main">
            <a:r>
              <a:t>Would you remove outliers? Only with a justified, documented data-quality rule. High price alone is not enough. Historical test inspection limits claims about a blind final evaluation.</a:t>
            </a:r>
          </a:p>
          <a:p xmlns:a="http://schemas.openxmlformats.org/drawingml/2006/main">
            <a:r>
              <a:t/>
            </a:r>
          </a:p>
          <a:p xmlns:a="http://schemas.openxmlformats.org/drawingml/2006/main">
            <a:r>
              <a:t>Sources</a:t>
            </a:r>
          </a:p>
          <a:p xmlns:a="http://schemas.openxmlformats.org/drawingml/2006/main">
            <a:r>
              <a:t>report/figures/results/error_analysis.csv; raw house_sale.csv listing /items/4674263; run_metadata.json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members, about 60 seconds in total. These are assigned responsibilities for the remaining team work and defence, not a record of completed contributions. Each member should review the relevant code, run checks and explain the results. Update the final contribution record to match work actually completed. Yagub introduces the data and runs the pipeline. Ruslan reviews the tree and error analysis. Elmir reviews the SVM and evaluation. Each member reviews another part too: Yagub reviews metrics, Ruslan reviews preprocessing, and Elmir reviews the tree. We finish with questions. Our main conclusion is strong price-tier classification and useful log-price prediction with clear limits for extreme prices.</a:t>
            </a:r>
          </a:p>
          <a:p xmlns:a="http://schemas.openxmlformats.org/drawingml/2006/main">
            <a:r>
              <a:t/>
            </a:r>
          </a:p>
          <a:p xmlns:a="http://schemas.openxmlformats.org/drawingml/2006/main">
            <a:r>
              <a:t>Possible question</a:t>
            </a:r>
          </a:p>
          <a:p xmlns:a="http://schemas.openxmlformats.org/drawingml/2006/main">
            <a:r>
              <a:t>What will you improve next? Verify source anomalies with evidence and collect a later dataset for a new evaluation.</a:t>
            </a:r>
          </a:p>
          <a:p xmlns:a="http://schemas.openxmlformats.org/drawingml/2006/main">
            <a:r>
              <a:t/>
            </a:r>
          </a:p>
          <a:p xmlns:a="http://schemas.openxmlformats.org/drawingml/2006/main">
            <a:r>
              <a:t>Sources</a:t>
            </a:r>
          </a:p>
          <a:p xmlns:a="http://schemas.openxmlformats.org/drawingml/2006/main">
            <a:r>
              <a:t>Team responsibility plan requested by the project team; README.md defence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899e598cb740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52c7a5a75441dd" /><Relationship Type="http://schemas.openxmlformats.org/officeDocument/2006/relationships/slideLayout" Target="/ppt/slideLayouts/slideLayout1.xml" Id="Re5aa73efe4e845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aa73efe4e845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094af147e64855" /><Relationship Type="http://schemas.openxmlformats.org/officeDocument/2006/relationships/notesSlide" Target="/ppt/notesSlides/notesSlide1.xml" Id="R70025a30d86344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6f6fd9cf184949" /><Relationship Type="http://schemas.openxmlformats.org/officeDocument/2006/relationships/notesSlide" Target="/ppt/notesSlides/notesSlide2.xml" Id="R7b38325e936c4a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b20265ed31458d" /><Relationship Type="http://schemas.openxmlformats.org/officeDocument/2006/relationships/notesSlide" Target="/ppt/notesSlides/notesSlide3.xml" Id="R8b6142065c3f4a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1596c2be8543d0" /><Relationship Type="http://schemas.openxmlformats.org/officeDocument/2006/relationships/notesSlide" Target="/ppt/notesSlides/notesSlide4.xml" Id="R9a39dea2a6084b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3ca8642ddc4dc2" /><Relationship Type="http://schemas.openxmlformats.org/officeDocument/2006/relationships/notesSlide" Target="/ppt/notesSlides/notesSlide5.xml" Id="R5293b802e7b64e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43be21b64c4490" /><Relationship Type="http://schemas.openxmlformats.org/officeDocument/2006/relationships/notesSlide" Target="/ppt/notesSlides/notesSlide6.xml" Id="R0c345e990e054b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9ebdef9f4b406b" /><Relationship Type="http://schemas.openxmlformats.org/officeDocument/2006/relationships/chart" Target="/ppt/slides/charts/chart1.xml" Id="R2db83e34fe3f4995" /><Relationship Type="http://schemas.openxmlformats.org/officeDocument/2006/relationships/notesSlide" Target="/ppt/notesSlides/notesSlide7.xml" Id="Rfa9a9e94af2546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97761bc02114529" /><Relationship Type="http://schemas.openxmlformats.org/officeDocument/2006/relationships/chart" Target="/ppt/slides/charts/chart2.xml" Id="R2e62e607d7ae4a7e" /><Relationship Type="http://schemas.openxmlformats.org/officeDocument/2006/relationships/notesSlide" Target="/ppt/notesSlides/notesSlide8.xml" Id="Ree72837b00134d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a03de7430f4fb3" /><Relationship Type="http://schemas.openxmlformats.org/officeDocument/2006/relationships/notesSlide" Target="/ppt/notesSlides/notesSlide9.xml" Id="R1a19846ebdc24b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a0ae7cbf839478c" /><Relationship Type="http://schemas.openxmlformats.org/officeDocument/2006/relationships/notesSlide" Target="/ppt/notesSlides/notesSlide10.xml" Id="R460a98eca87149e1" /></Relationships>
</file>

<file path=ppt/slides/charts/chart1.xml><?xml version="1.0" encoding="utf-8"?>
<c:chartSpace xmlns:c="http://schemas.openxmlformats.org/drawingml/2006/chart">
  <c:lang val="en-US"/>
  <c:chart>
    <c:plotArea>
      <c:barChart>
        <c:barDir val="col"/>
        <c:grouping val="clustered"/>
        <c:varyColors val="0"/>
        <c:ser>
          <c:idx val="0"/>
          <c:order val="0"/>
          <c:tx>
            <c:v>NumPy</c:v>
          </c:tx>
          <c:spPr>
            <a:solidFill xmlns:a="http://schemas.openxmlformats.org/drawingml/2006/main">
              <a:srgbClr val="008C83"/>
            </a:solidFill>
          </c:spPr>
          <c:dLbls>
            <c:dLbl>
              <c:idx val="0"/>
              <c:tx>
                <c:rich>
                  <a:bodyPr xmlns:a="http://schemas.openxmlformats.org/drawingml/2006/main"/>
                  <a:lstStyle xmlns:a="http://schemas.openxmlformats.org/drawingml/2006/main"/>
                  <a:p xmlns:a="http://schemas.openxmlformats.org/drawingml/2006/main">
                    <a:r>
                      <a:rPr sz="1350"/>
                      <a:t>0.9068</a:t>
                    </a:r>
                  </a:p>
                </c:rich>
              </c:tx>
              <c:txPr>
                <a:bodyPr xmlns:a="http://schemas.openxmlformats.org/drawingml/2006/main" anchorCtr="1"/>
                <a:lstStyle xmlns:a="http://schemas.openxmlformats.org/drawingml/2006/main"/>
                <a:p xmlns:a="http://schemas.openxmlformats.org/drawingml/2006/main">
                  <a:pPr>
                    <a:defRPr sz="1350"/>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350"/>
                      <a:t>0.8553</a:t>
                    </a:r>
                  </a:p>
                </c:rich>
              </c:tx>
              <c:txPr>
                <a:bodyPr xmlns:a="http://schemas.openxmlformats.org/drawingml/2006/main" anchorCtr="1"/>
                <a:lstStyle xmlns:a="http://schemas.openxmlformats.org/drawingml/2006/main"/>
                <a:p xmlns:a="http://schemas.openxmlformats.org/drawingml/2006/main">
                  <a:pPr>
                    <a:defRPr sz="1350"/>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350"/>
                      <a:t>0.8478</a:t>
                    </a:r>
                  </a:p>
                </c:rich>
              </c:tx>
              <c:txPr>
                <a:bodyPr xmlns:a="http://schemas.openxmlformats.org/drawingml/2006/main" anchorCtr="1"/>
                <a:lstStyle xmlns:a="http://schemas.openxmlformats.org/drawingml/2006/main"/>
                <a:p xmlns:a="http://schemas.openxmlformats.org/drawingml/2006/main">
                  <a:pPr>
                    <a:defRPr sz="1350"/>
                  </a:pPr>
                </a:p>
              </c:txPr>
              <c:showLegendKey val="0"/>
              <c:showVal val="0"/>
              <c:showCatName val="0"/>
              <c:showSerName val="0"/>
              <c:showPercent val="0"/>
              <c:showBubbleSize val="0"/>
            </c:dLbl>
          </c:dLbls>
          <c:cat>
            <c:strLit>
              <c:ptCount val="3"/>
              <c:pt idx="0">
                <c:v>Tree</c:v>
              </c:pt>
              <c:pt idx="1">
                <c:v>Linear SVM</c:v>
              </c:pt>
              <c:pt idx="2">
                <c:v>RFF SVM</c:v>
              </c:pt>
            </c:strLit>
          </c:cat>
          <c:val>
            <c:numLit>
              <c:formatCode>0.0000</c:formatCode>
              <c:ptCount val="3"/>
              <c:pt idx="0">
                <c:v>0.9068</c:v>
              </c:pt>
              <c:pt idx="1">
                <c:v>0.8553</c:v>
              </c:pt>
              <c:pt idx="2">
                <c:v>0.8478</c:v>
              </c:pt>
            </c:numLit>
          </c:val>
        </c:ser>
        <c:ser>
          <c:idx val="1"/>
          <c:order val="1"/>
          <c:tx>
            <c:v>scikit-learn</c:v>
          </c:tx>
          <c:spPr>
            <a:solidFill xmlns:a="http://schemas.openxmlformats.org/drawingml/2006/main">
              <a:srgbClr val="216A89"/>
            </a:solidFill>
          </c:spPr>
          <c:dLbls>
            <c:dLbl>
              <c:idx val="0"/>
              <c:tx>
                <c:rich>
                  <a:bodyPr xmlns:a="http://schemas.openxmlformats.org/drawingml/2006/main"/>
                  <a:lstStyle xmlns:a="http://schemas.openxmlformats.org/drawingml/2006/main"/>
                  <a:p xmlns:a="http://schemas.openxmlformats.org/drawingml/2006/main">
                    <a:r>
                      <a:rPr sz="1350"/>
                      <a:t>0.9069</a:t>
                    </a:r>
                  </a:p>
                </c:rich>
              </c:tx>
              <c:txPr>
                <a:bodyPr xmlns:a="http://schemas.openxmlformats.org/drawingml/2006/main" anchorCtr="1"/>
                <a:lstStyle xmlns:a="http://schemas.openxmlformats.org/drawingml/2006/main"/>
                <a:p xmlns:a="http://schemas.openxmlformats.org/drawingml/2006/main">
                  <a:pPr>
                    <a:defRPr sz="1350"/>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350"/>
                      <a:t>0.8544</a:t>
                    </a:r>
                  </a:p>
                </c:rich>
              </c:tx>
              <c:txPr>
                <a:bodyPr xmlns:a="http://schemas.openxmlformats.org/drawingml/2006/main" anchorCtr="1"/>
                <a:lstStyle xmlns:a="http://schemas.openxmlformats.org/drawingml/2006/main"/>
                <a:p xmlns:a="http://schemas.openxmlformats.org/drawingml/2006/main">
                  <a:pPr>
                    <a:defRPr sz="1350"/>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350"/>
                      <a:t>0.8432</a:t>
                    </a:r>
                  </a:p>
                </c:rich>
              </c:tx>
              <c:txPr>
                <a:bodyPr xmlns:a="http://schemas.openxmlformats.org/drawingml/2006/main" anchorCtr="1"/>
                <a:lstStyle xmlns:a="http://schemas.openxmlformats.org/drawingml/2006/main"/>
                <a:p xmlns:a="http://schemas.openxmlformats.org/drawingml/2006/main">
                  <a:pPr>
                    <a:defRPr sz="1350"/>
                  </a:pPr>
                </a:p>
              </c:txPr>
              <c:showLegendKey val="0"/>
              <c:showVal val="0"/>
              <c:showCatName val="0"/>
              <c:showSerName val="0"/>
              <c:showPercent val="0"/>
              <c:showBubbleSize val="0"/>
            </c:dLbl>
          </c:dLbls>
          <c:cat>
            <c:strLit>
              <c:ptCount val="3"/>
              <c:pt idx="0">
                <c:v>Tree</c:v>
              </c:pt>
              <c:pt idx="1">
                <c:v>Linear SVM</c:v>
              </c:pt>
              <c:pt idx="2">
                <c:v>RFF SVM</c:v>
              </c:pt>
            </c:strLit>
          </c:cat>
          <c:val>
            <c:numLit>
              <c:formatCode>0.0000</c:formatCode>
              <c:ptCount val="3"/>
              <c:pt idx="0">
                <c:v>0.9069</c:v>
              </c:pt>
              <c:pt idx="1">
                <c:v>0.8544</c:v>
              </c:pt>
              <c:pt idx="2">
                <c:v>0.8432</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7F8F5"/>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7F8F5"/>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Test log-RMSE</c:v>
          </c:tx>
          <c:spPr>
            <a:solidFill xmlns:a="http://schemas.openxmlformats.org/drawingml/2006/main">
              <a:srgbClr val="216A89"/>
            </a:solidFill>
          </c:spPr>
          <c:dLbls>
            <c:dLbl>
              <c:idx val="0"/>
              <c:tx>
                <c:rich>
                  <a:bodyPr xmlns:a="http://schemas.openxmlformats.org/drawingml/2006/main"/>
                  <a:lstStyle xmlns:a="http://schemas.openxmlformats.org/drawingml/2006/main"/>
                  <a:p xmlns:a="http://schemas.openxmlformats.org/drawingml/2006/main">
                    <a:r>
                      <a:rPr sz="1350"/>
                      <a:t>0.9249</a:t>
                    </a:r>
                  </a:p>
                </c:rich>
              </c:tx>
              <c:txPr>
                <a:bodyPr xmlns:a="http://schemas.openxmlformats.org/drawingml/2006/main" anchorCtr="1"/>
                <a:lstStyle xmlns:a="http://schemas.openxmlformats.org/drawingml/2006/main"/>
                <a:p xmlns:a="http://schemas.openxmlformats.org/drawingml/2006/main">
                  <a:pPr>
                    <a:defRPr sz="1350"/>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350"/>
                      <a:t>0.8360</a:t>
                    </a:r>
                  </a:p>
                </c:rich>
              </c:tx>
              <c:txPr>
                <a:bodyPr xmlns:a="http://schemas.openxmlformats.org/drawingml/2006/main" anchorCtr="1"/>
                <a:lstStyle xmlns:a="http://schemas.openxmlformats.org/drawingml/2006/main"/>
                <a:p xmlns:a="http://schemas.openxmlformats.org/drawingml/2006/main">
                  <a:pPr>
                    <a:defRPr sz="1350"/>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350"/>
                      <a:t>0.4102</a:t>
                    </a:r>
                  </a:p>
                </c:rich>
              </c:tx>
              <c:txPr>
                <a:bodyPr xmlns:a="http://schemas.openxmlformats.org/drawingml/2006/main" anchorCtr="1"/>
                <a:lstStyle xmlns:a="http://schemas.openxmlformats.org/drawingml/2006/main"/>
                <a:p xmlns:a="http://schemas.openxmlformats.org/drawingml/2006/main">
                  <a:pPr>
                    <a:defRPr sz="1350"/>
                  </a:pPr>
                </a:p>
              </c:txPr>
              <c:showLegendKey val="0"/>
              <c:showVal val="0"/>
              <c:showCatName val="0"/>
              <c:showSerName val="0"/>
              <c:showPercent val="0"/>
              <c:showBubbleSize val="0"/>
            </c:dLbl>
          </c:dLbls>
          <c:cat>
            <c:strLit>
              <c:ptCount val="3"/>
              <c:pt idx="0">
                <c:v>Training mean</c:v>
              </c:pt>
              <c:pt idx="1">
                <c:v>Training median</c:v>
              </c:pt>
              <c:pt idx="2">
                <c:v>NumPy tree</c:v>
              </c:pt>
            </c:strLit>
          </c:cat>
          <c:val>
            <c:numLit>
              <c:formatCode>0.0000</c:formatCode>
              <c:ptCount val="3"/>
              <c:pt idx="0">
                <c:v>0.9249</c:v>
              </c:pt>
              <c:pt idx="1">
                <c:v>0.836</c:v>
              </c:pt>
              <c:pt idx="2">
                <c:v>0.4102</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chartSpace>
</file>

<file path=ppt/slides/slide1.xml><?xml version="1.0" encoding="utf-8"?>
<p:sld xmlns:p="http://schemas.openxmlformats.org/presentationml/2006/main">
  <p:cSld>
    <p:bg>
      <p:bgPr>
        <a:solidFill xmlns:a="http://schemas.openxmlformats.org/drawingml/2006/main">
          <a:srgbClr val="112B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CFA17A-963E-4523-B43F-BC930E4A3856}"/>
              </a:ext>
            </a:extLst>
          </p:cNvPr>
          <p:cNvSpPr>
            <a:spLocks xmlns:a="http://schemas.openxmlformats.org/drawingml/2006/main" noGrp="1"/>
          </p:cNvSpPr>
          <p:nvPr/>
        </p:nvSpPr>
        <p:spPr>
          <a:xfrm xmlns:a="http://schemas.openxmlformats.org/drawingml/2006/main">
            <a:off x="609600" y="457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Bina.az property prices</a:t>
            </a:r>
          </a:p>
        </p:txBody>
      </p:sp>
      <p:sp>
        <p:nvSpPr>
          <p:cNvPr id="2" name="">
            <a:extLst xmlns:a="http://schemas.openxmlformats.org/drawingml/2006/main">
              <a:ext uri="{FF2B5EF4-FFF2-40B4-BE49-F238E27FC236}">
                <a16:creationId xmlns:a16="http://schemas.microsoft.com/office/drawing/2014/main" id="{4AD72CE6-3FFD-44F2-9460-08D3B8D698DE}"/>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4D7DF"/>
                </a:solidFill>
                <a:latin typeface="Arial"/>
                <a:ea typeface="Arial"/>
                <a:cs typeface="Arial"/>
              </a:defRPr>
            </a:pPr>
            <a:r>
              <a:rPr sz="1350" b="0">
                <a:solidFill>
                  <a:srgbClr val="C4D7D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BE9C730-0DB6-47CC-B8D4-F2C574F9CFA4}"/>
              </a:ext>
            </a:extLst>
          </p:cNvPr>
          <p:cNvSpPr>
            <a:spLocks xmlns:a="http://schemas.openxmlformats.org/drawingml/2006/main" noGrp="1"/>
          </p:cNvSpPr>
          <p:nvPr/>
        </p:nvSpPr>
        <p:spPr>
          <a:xfrm xmlns:a="http://schemas.openxmlformats.org/drawingml/2006/main">
            <a:off x="609600" y="1666875"/>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Decision trees and SVM</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from scratch</a:t>
            </a:r>
          </a:p>
        </p:txBody>
      </p:sp>
      <p:sp>
        <p:nvSpPr>
          <p:cNvPr id="4" name="">
            <a:extLst xmlns:a="http://schemas.openxmlformats.org/drawingml/2006/main">
              <a:ext uri="{FF2B5EF4-FFF2-40B4-BE49-F238E27FC236}">
                <a16:creationId xmlns:a16="http://schemas.microsoft.com/office/drawing/2014/main" id="{477F5C18-DE81-4ED7-A39D-D82D82F758F0}"/>
              </a:ext>
            </a:extLst>
          </p:cNvPr>
          <p:cNvSpPr>
            <a:spLocks xmlns:a="http://schemas.openxmlformats.org/drawingml/2006/main" noGrp="1"/>
          </p:cNvSpPr>
          <p:nvPr/>
        </p:nvSpPr>
        <p:spPr>
          <a:xfrm xmlns:a="http://schemas.openxmlformats.org/drawingml/2006/main">
            <a:off x="647700" y="3667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80D4C9"/>
                </a:solidFill>
                <a:latin typeface="Arial"/>
                <a:ea typeface="Arial"/>
                <a:cs typeface="Arial"/>
              </a:defRPr>
            </a:pPr>
            <a:r>
              <a:rPr sz="2250" b="0">
                <a:solidFill>
                  <a:srgbClr val="80D4C9"/>
                </a:solidFill>
                <a:latin typeface="Arial"/>
                <a:ea typeface="Arial"/>
                <a:cs typeface="Arial"/>
              </a:rPr>
              <a:t>Price prediction and price-tier classification</a:t>
            </a:r>
          </a:p>
        </p:txBody>
      </p:sp>
      <p:sp>
        <p:nvSpPr>
          <p:cNvPr id="5" name="">
            <a:extLst xmlns:a="http://schemas.openxmlformats.org/drawingml/2006/main">
              <a:ext uri="{FF2B5EF4-FFF2-40B4-BE49-F238E27FC236}">
                <a16:creationId xmlns:a16="http://schemas.microsoft.com/office/drawing/2014/main" id="{723115B1-1166-4ACD-B064-54EC691EE4C9}"/>
              </a:ext>
            </a:extLst>
          </p:cNvPr>
          <p:cNvSpPr>
            <a:spLocks xmlns:a="http://schemas.openxmlformats.org/drawingml/2006/main" noGrp="1"/>
          </p:cNvSpPr>
          <p:nvPr/>
        </p:nvSpPr>
        <p:spPr>
          <a:xfrm xmlns:a="http://schemas.openxmlformats.org/drawingml/2006/main">
            <a:off x="647700" y="4524375"/>
            <a:ext cx="685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Yagub Khalilli</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Ruslan Sadigov</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Elmir Esgerov</a:t>
            </a:r>
          </a:p>
        </p:txBody>
      </p:sp>
      <p:sp>
        <p:nvSpPr>
          <p:cNvPr id="6" name="">
            <a:extLst xmlns:a="http://schemas.openxmlformats.org/drawingml/2006/main">
              <a:ext uri="{FF2B5EF4-FFF2-40B4-BE49-F238E27FC236}">
                <a16:creationId xmlns:a16="http://schemas.microsoft.com/office/drawing/2014/main" id="{C24268B6-BC5D-4917-8CDD-42CE81F631BA}"/>
              </a:ext>
            </a:extLst>
          </p:cNvPr>
          <p:cNvSpPr>
            <a:spLocks xmlns:a="http://schemas.openxmlformats.org/drawingml/2006/main" noGrp="1"/>
          </p:cNvSpPr>
          <p:nvPr/>
        </p:nvSpPr>
        <p:spPr>
          <a:xfrm xmlns:a="http://schemas.openxmlformats.org/drawingml/2006/main">
            <a:off x="647700" y="60960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4D7DF"/>
                </a:solidFill>
                <a:latin typeface="Arial"/>
                <a:ea typeface="Arial"/>
                <a:cs typeface="Arial"/>
              </a:defRPr>
            </a:pPr>
            <a:r>
              <a:rPr sz="1500" b="0">
                <a:solidFill>
                  <a:srgbClr val="C4D7DF"/>
                </a:solidFill>
                <a:latin typeface="Arial"/>
                <a:ea typeface="Arial"/>
                <a:cs typeface="Arial"/>
              </a:rPr>
              <a:t>MLE-AI-201  /  Final project</a:t>
            </a:r>
          </a:p>
        </p:txBody>
      </p:sp>
    </p:spTree>
    <p:extLst>
      <p:ext uri="{BB962C8B-B14F-4D97-AF65-F5344CB8AC3E}">
        <p14:creationId xmlns:p14="http://schemas.microsoft.com/office/powerpoint/2010/main" val="482215413"/>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7CD4B3-ACB8-4A32-AF2C-7B78CC5E987D}"/>
              </a:ext>
            </a:extLst>
          </p:cNvPr>
          <p:cNvSpPr>
            <a:spLocks xmlns:a="http://schemas.openxmlformats.org/drawingml/2006/main" noGrp="1"/>
          </p:cNvSpPr>
          <p:nvPr/>
        </p:nvSpPr>
        <p:spPr>
          <a:xfrm xmlns:a="http://schemas.openxmlformats.org/drawingml/2006/main">
            <a:off x="609600" y="457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B3C"/>
                </a:solidFill>
                <a:latin typeface="Arial"/>
                <a:ea typeface="Arial"/>
                <a:cs typeface="Arial"/>
              </a:defRPr>
            </a:pPr>
            <a:r>
              <a:rPr sz="3300" b="1">
                <a:solidFill>
                  <a:srgbClr val="112B3C"/>
                </a:solidFill>
                <a:latin typeface="Arial"/>
                <a:ea typeface="Arial"/>
                <a:cs typeface="Arial"/>
              </a:rPr>
              <a:t>The dataset and our two tasks</a:t>
            </a:r>
          </a:p>
        </p:txBody>
      </p:sp>
      <p:sp>
        <p:nvSpPr>
          <p:cNvPr id="2" name="">
            <a:extLst xmlns:a="http://schemas.openxmlformats.org/drawingml/2006/main">
              <a:ext uri="{FF2B5EF4-FFF2-40B4-BE49-F238E27FC236}">
                <a16:creationId xmlns:a16="http://schemas.microsoft.com/office/drawing/2014/main" id="{54829513-E896-4BDC-990C-25AC88AA7658}"/>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4B80AF4-24ED-4E44-9158-D62047FEA24D}"/>
              </a:ext>
            </a:extLst>
          </p:cNvPr>
          <p:cNvSpPr>
            <a:spLocks xmlns:a="http://schemas.openxmlformats.org/drawingml/2006/main" noGrp="1"/>
          </p:cNvSpPr>
          <p:nvPr/>
        </p:nvSpPr>
        <p:spPr>
          <a:xfrm xmlns:a="http://schemas.openxmlformats.org/drawingml/2006/main">
            <a:off x="609600" y="1543050"/>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16A89"/>
                </a:solidFill>
                <a:latin typeface="Arial"/>
                <a:ea typeface="Arial"/>
                <a:cs typeface="Arial"/>
              </a:defRPr>
            </a:pPr>
            <a:r>
              <a:rPr sz="5400" b="1">
                <a:solidFill>
                  <a:srgbClr val="216A89"/>
                </a:solidFill>
                <a:latin typeface="Arial"/>
                <a:ea typeface="Arial"/>
                <a:cs typeface="Arial"/>
              </a:rPr>
              <a:t>100,775</a:t>
            </a:r>
          </a:p>
        </p:txBody>
      </p:sp>
      <p:sp>
        <p:nvSpPr>
          <p:cNvPr id="4" name="">
            <a:extLst xmlns:a="http://schemas.openxmlformats.org/drawingml/2006/main">
              <a:ext uri="{FF2B5EF4-FFF2-40B4-BE49-F238E27FC236}">
                <a16:creationId xmlns:a16="http://schemas.microsoft.com/office/drawing/2014/main" id="{A2196D92-3BD5-43BF-A9B9-1C31FD2E71BE}"/>
              </a:ext>
            </a:extLst>
          </p:cNvPr>
          <p:cNvSpPr>
            <a:spLocks xmlns:a="http://schemas.openxmlformats.org/drawingml/2006/main" noGrp="1"/>
          </p:cNvSpPr>
          <p:nvPr/>
        </p:nvSpPr>
        <p:spPr>
          <a:xfrm xmlns:a="http://schemas.openxmlformats.org/drawingml/2006/main">
            <a:off x="647700" y="24288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raw listing rows</a:t>
            </a:r>
          </a:p>
        </p:txBody>
      </p:sp>
      <p:sp>
        <p:nvSpPr>
          <p:cNvPr id="5" name="">
            <a:extLst xmlns:a="http://schemas.openxmlformats.org/drawingml/2006/main">
              <a:ext uri="{FF2B5EF4-FFF2-40B4-BE49-F238E27FC236}">
                <a16:creationId xmlns:a16="http://schemas.microsoft.com/office/drawing/2014/main" id="{C77214B4-A064-4EE8-A639-552E22514B54}"/>
              </a:ext>
            </a:extLst>
          </p:cNvPr>
          <p:cNvSpPr>
            <a:spLocks xmlns:a="http://schemas.openxmlformats.org/drawingml/2006/main" noGrp="1"/>
          </p:cNvSpPr>
          <p:nvPr/>
        </p:nvSpPr>
        <p:spPr>
          <a:xfrm xmlns:a="http://schemas.openxmlformats.org/drawingml/2006/main">
            <a:off x="6429375" y="1543050"/>
            <a:ext cx="5048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008C83"/>
                </a:solidFill>
                <a:latin typeface="Arial"/>
                <a:ea typeface="Arial"/>
                <a:cs typeface="Arial"/>
              </a:defRPr>
            </a:pPr>
            <a:r>
              <a:rPr sz="5400" b="1">
                <a:solidFill>
                  <a:srgbClr val="008C83"/>
                </a:solidFill>
                <a:latin typeface="Arial"/>
                <a:ea typeface="Arial"/>
                <a:cs typeface="Arial"/>
              </a:rPr>
              <a:t>64,454</a:t>
            </a:r>
          </a:p>
        </p:txBody>
      </p:sp>
      <p:sp>
        <p:nvSpPr>
          <p:cNvPr id="6" name="">
            <a:extLst xmlns:a="http://schemas.openxmlformats.org/drawingml/2006/main">
              <a:ext uri="{FF2B5EF4-FFF2-40B4-BE49-F238E27FC236}">
                <a16:creationId xmlns:a16="http://schemas.microsoft.com/office/drawing/2014/main" id="{7C4E1FE2-8981-471B-A285-4074108CEAF9}"/>
              </a:ext>
            </a:extLst>
          </p:cNvPr>
          <p:cNvSpPr>
            <a:spLocks xmlns:a="http://schemas.openxmlformats.org/drawingml/2006/main" noGrp="1"/>
          </p:cNvSpPr>
          <p:nvPr/>
        </p:nvSpPr>
        <p:spPr>
          <a:xfrm xmlns:a="http://schemas.openxmlformats.org/drawingml/2006/main">
            <a:off x="6467475" y="24288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rows after cleaning</a:t>
            </a:r>
          </a:p>
        </p:txBody>
      </p:sp>
      <p:sp>
        <p:nvSpPr>
          <p:cNvPr id="7" name="">
            <a:extLst xmlns:a="http://schemas.openxmlformats.org/drawingml/2006/main">
              <a:ext uri="{FF2B5EF4-FFF2-40B4-BE49-F238E27FC236}">
                <a16:creationId xmlns:a16="http://schemas.microsoft.com/office/drawing/2014/main" id="{805BAE55-540D-4581-A7DC-8FC7DD954874}"/>
              </a:ext>
            </a:extLst>
          </p:cNvPr>
          <p:cNvSpPr>
            <a:spLocks xmlns:a="http://schemas.openxmlformats.org/drawingml/2006/main" noGrp="1"/>
          </p:cNvSpPr>
          <p:nvPr/>
        </p:nvSpPr>
        <p:spPr>
          <a:xfrm xmlns:a="http://schemas.openxmlformats.org/drawingml/2006/main">
            <a:off x="647700" y="33813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16A89"/>
                </a:solidFill>
                <a:latin typeface="Arial"/>
                <a:ea typeface="Arial"/>
                <a:cs typeface="Arial"/>
              </a:defRPr>
            </a:pPr>
            <a:r>
              <a:rPr sz="1725" b="1">
                <a:solidFill>
                  <a:srgbClr val="216A89"/>
                </a:solidFill>
                <a:latin typeface="Arial"/>
                <a:ea typeface="Arial"/>
                <a:cs typeface="Arial"/>
              </a:rPr>
              <a:t>TASK A  /  REGRESSION</a:t>
            </a:r>
          </a:p>
        </p:txBody>
      </p:sp>
      <p:sp>
        <p:nvSpPr>
          <p:cNvPr id="8" name="">
            <a:extLst xmlns:a="http://schemas.openxmlformats.org/drawingml/2006/main">
              <a:ext uri="{FF2B5EF4-FFF2-40B4-BE49-F238E27FC236}">
                <a16:creationId xmlns:a16="http://schemas.microsoft.com/office/drawing/2014/main" id="{BC71AE9E-E1A3-4E43-85E8-23FBA8C87C02}"/>
              </a:ext>
            </a:extLst>
          </p:cNvPr>
          <p:cNvSpPr>
            <a:spLocks xmlns:a="http://schemas.openxmlformats.org/drawingml/2006/main" noGrp="1"/>
          </p:cNvSpPr>
          <p:nvPr/>
        </p:nvSpPr>
        <p:spPr>
          <a:xfrm xmlns:a="http://schemas.openxmlformats.org/drawingml/2006/main">
            <a:off x="647700" y="390525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12B3C"/>
                </a:solidFill>
                <a:latin typeface="Arial"/>
                <a:ea typeface="Arial"/>
                <a:cs typeface="Arial"/>
              </a:defRPr>
            </a:pPr>
            <a:r>
              <a:rPr sz="2325" b="0">
                <a:solidFill>
                  <a:srgbClr val="112B3C"/>
                </a:solidFill>
                <a:latin typeface="Arial"/>
                <a:ea typeface="Arial"/>
                <a:cs typeface="Arial"/>
              </a:rPr>
              <a:t>Predict the asking price in AZN.</a:t>
            </a:r>
          </a:p>
          <a:p xmlns:a="http://schemas.openxmlformats.org/drawingml/2006/main">
            <a:pPr>
              <a:defRPr sz="2325" b="0">
                <a:solidFill>
                  <a:srgbClr val="112B3C"/>
                </a:solidFill>
                <a:latin typeface="Arial"/>
                <a:ea typeface="Arial"/>
                <a:cs typeface="Arial"/>
              </a:defRPr>
            </a:pPr>
            <a:r>
              <a:rPr sz="2325" b="0">
                <a:solidFill>
                  <a:srgbClr val="112B3C"/>
                </a:solidFill>
                <a:latin typeface="Arial"/>
                <a:ea typeface="Arial"/>
                <a:cs typeface="Arial"/>
              </a:rPr>
              <a:t>The tree learns log(price).</a:t>
            </a:r>
          </a:p>
        </p:txBody>
      </p:sp>
      <p:sp>
        <p:nvSpPr>
          <p:cNvPr id="9" name="">
            <a:extLst xmlns:a="http://schemas.openxmlformats.org/drawingml/2006/main">
              <a:ext uri="{FF2B5EF4-FFF2-40B4-BE49-F238E27FC236}">
                <a16:creationId xmlns:a16="http://schemas.microsoft.com/office/drawing/2014/main" id="{CC42641A-5BCD-4427-9254-108C39AA7C04}"/>
              </a:ext>
            </a:extLst>
          </p:cNvPr>
          <p:cNvSpPr>
            <a:spLocks xmlns:a="http://schemas.openxmlformats.org/drawingml/2006/main" noGrp="1"/>
          </p:cNvSpPr>
          <p:nvPr/>
        </p:nvSpPr>
        <p:spPr>
          <a:xfrm xmlns:a="http://schemas.openxmlformats.org/drawingml/2006/main">
            <a:off x="6467475" y="3381375"/>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8C83"/>
                </a:solidFill>
                <a:latin typeface="Arial"/>
                <a:ea typeface="Arial"/>
                <a:cs typeface="Arial"/>
              </a:defRPr>
            </a:pPr>
            <a:r>
              <a:rPr sz="1725" b="1">
                <a:solidFill>
                  <a:srgbClr val="008C83"/>
                </a:solidFill>
                <a:latin typeface="Arial"/>
                <a:ea typeface="Arial"/>
                <a:cs typeface="Arial"/>
              </a:rPr>
              <a:t>TASK B  /  CLASSIFICATION</a:t>
            </a:r>
          </a:p>
        </p:txBody>
      </p:sp>
      <p:sp>
        <p:nvSpPr>
          <p:cNvPr id="10" name="">
            <a:extLst xmlns:a="http://schemas.openxmlformats.org/drawingml/2006/main">
              <a:ext uri="{FF2B5EF4-FFF2-40B4-BE49-F238E27FC236}">
                <a16:creationId xmlns:a16="http://schemas.microsoft.com/office/drawing/2014/main" id="{CCB01325-C72C-4089-BB0C-41EF1AA859CF}"/>
              </a:ext>
            </a:extLst>
          </p:cNvPr>
          <p:cNvSpPr>
            <a:spLocks xmlns:a="http://schemas.openxmlformats.org/drawingml/2006/main" noGrp="1"/>
          </p:cNvSpPr>
          <p:nvPr/>
        </p:nvSpPr>
        <p:spPr>
          <a:xfrm xmlns:a="http://schemas.openxmlformats.org/drawingml/2006/main">
            <a:off x="6467475" y="390525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Premium: price &gt; 210,000 AZN</a:t>
            </a:r>
          </a:p>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Standard: price ≤ 210,000 AZN</a:t>
            </a:r>
          </a:p>
        </p:txBody>
      </p:sp>
      <p:sp>
        <p:nvSpPr>
          <p:cNvPr id="11" name="">
            <a:extLst xmlns:a="http://schemas.openxmlformats.org/drawingml/2006/main">
              <a:ext uri="{FF2B5EF4-FFF2-40B4-BE49-F238E27FC236}">
                <a16:creationId xmlns:a16="http://schemas.microsoft.com/office/drawing/2014/main" id="{4255EA0F-FD33-42D3-8A8A-CC661D28E46D}"/>
              </a:ext>
            </a:extLst>
          </p:cNvPr>
          <p:cNvSpPr>
            <a:spLocks xmlns:a="http://schemas.openxmlformats.org/drawingml/2006/main" noGrp="1"/>
          </p:cNvSpPr>
          <p:nvPr/>
        </p:nvSpPr>
        <p:spPr>
          <a:xfrm xmlns:a="http://schemas.openxmlformats.org/drawingml/2006/main">
            <a:off x="647700" y="559117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The tier boundary is the training median. It is not a market-wide luxury label.</a:t>
            </a:r>
          </a:p>
        </p:txBody>
      </p:sp>
    </p:spTree>
    <p:extLst>
      <p:ext uri="{BB962C8B-B14F-4D97-AF65-F5344CB8AC3E}">
        <p14:creationId xmlns:p14="http://schemas.microsoft.com/office/powerpoint/2010/main" val="169968579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03E29D-5D5D-4354-9BE3-5FB6E7567B40}"/>
              </a:ext>
            </a:extLst>
          </p:cNvPr>
          <p:cNvSpPr>
            <a:spLocks xmlns:a="http://schemas.openxmlformats.org/drawingml/2006/main" noGrp="1"/>
          </p:cNvSpPr>
          <p:nvPr/>
        </p:nvSpPr>
        <p:spPr>
          <a:xfrm xmlns:a="http://schemas.openxmlformats.org/drawingml/2006/main">
            <a:off x="609600" y="457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B3C"/>
                </a:solidFill>
                <a:latin typeface="Arial"/>
                <a:ea typeface="Arial"/>
                <a:cs typeface="Arial"/>
              </a:defRPr>
            </a:pPr>
            <a:r>
              <a:rPr sz="3300" b="1">
                <a:solidFill>
                  <a:srgbClr val="112B3C"/>
                </a:solidFill>
                <a:latin typeface="Arial"/>
                <a:ea typeface="Arial"/>
                <a:cs typeface="Arial"/>
              </a:rPr>
              <a:t>Cleaning and input features</a:t>
            </a:r>
          </a:p>
        </p:txBody>
      </p:sp>
      <p:sp>
        <p:nvSpPr>
          <p:cNvPr id="2" name="">
            <a:extLst xmlns:a="http://schemas.openxmlformats.org/drawingml/2006/main">
              <a:ext uri="{FF2B5EF4-FFF2-40B4-BE49-F238E27FC236}">
                <a16:creationId xmlns:a16="http://schemas.microsoft.com/office/drawing/2014/main" id="{6DFFAF46-0ABA-45F9-8BC0-9A1E4E219219}"/>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239FFEB3-31BC-46E7-A4B8-387B9FD171C6}"/>
              </a:ext>
            </a:extLst>
          </p:cNvPr>
          <p:cNvSpPr>
            <a:spLocks xmlns:a="http://schemas.openxmlformats.org/drawingml/2006/main" noGrp="1"/>
          </p:cNvSpPr>
          <p:nvPr/>
        </p:nvSpPr>
        <p:spPr>
          <a:xfrm xmlns:a="http://schemas.openxmlformats.org/drawingml/2006/main">
            <a:off x="609600" y="16002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16A89"/>
                </a:solidFill>
                <a:latin typeface="Arial"/>
                <a:ea typeface="Arial"/>
                <a:cs typeface="Arial"/>
              </a:defRPr>
            </a:pPr>
            <a:r>
              <a:rPr sz="2400" b="1">
                <a:solidFill>
                  <a:srgbClr val="216A89"/>
                </a:solidFill>
                <a:latin typeface="Arial"/>
                <a:ea typeface="Arial"/>
                <a:cs typeface="Arial"/>
              </a:rPr>
              <a:t>Useful inputs</a:t>
            </a:r>
          </a:p>
        </p:txBody>
      </p:sp>
      <p:sp>
        <p:nvSpPr>
          <p:cNvPr id="4" name="">
            <a:extLst xmlns:a="http://schemas.openxmlformats.org/drawingml/2006/main">
              <a:ext uri="{FF2B5EF4-FFF2-40B4-BE49-F238E27FC236}">
                <a16:creationId xmlns:a16="http://schemas.microsoft.com/office/drawing/2014/main" id="{13665D61-008B-464F-9641-47F6D2A1675C}"/>
              </a:ext>
            </a:extLst>
          </p:cNvPr>
          <p:cNvSpPr>
            <a:spLocks xmlns:a="http://schemas.openxmlformats.org/drawingml/2006/main" noGrp="1"/>
          </p:cNvSpPr>
          <p:nvPr/>
        </p:nvSpPr>
        <p:spPr>
          <a:xfrm xmlns:a="http://schemas.openxmlformats.org/drawingml/2006/main">
            <a:off x="609600" y="2286000"/>
            <a:ext cx="5238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Area, rooms and floors</a:t>
            </a:r>
          </a:p>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Location and coordinates</a:t>
            </a:r>
          </a:p>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Property type and repair status</a:t>
            </a:r>
          </a:p>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Legal and mortgage information</a:t>
            </a:r>
          </a:p>
        </p:txBody>
      </p:sp>
      <p:sp>
        <p:nvSpPr>
          <p:cNvPr id="5" name="">
            <a:extLst xmlns:a="http://schemas.openxmlformats.org/drawingml/2006/main">
              <a:ext uri="{FF2B5EF4-FFF2-40B4-BE49-F238E27FC236}">
                <a16:creationId xmlns:a16="http://schemas.microsoft.com/office/drawing/2014/main" id="{40DD114E-ECB2-4CC9-8357-27258E345C0A}"/>
              </a:ext>
            </a:extLst>
          </p:cNvPr>
          <p:cNvSpPr>
            <a:spLocks xmlns:a="http://schemas.openxmlformats.org/drawingml/2006/main" noGrp="1"/>
          </p:cNvSpPr>
          <p:nvPr/>
        </p:nvSpPr>
        <p:spPr>
          <a:xfrm xmlns:a="http://schemas.openxmlformats.org/drawingml/2006/main">
            <a:off x="6477000" y="16002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8C83"/>
                </a:solidFill>
                <a:latin typeface="Arial"/>
                <a:ea typeface="Arial"/>
                <a:cs typeface="Arial"/>
              </a:defRPr>
            </a:pPr>
            <a:r>
              <a:rPr sz="2400" b="1">
                <a:solidFill>
                  <a:srgbClr val="008C83"/>
                </a:solidFill>
                <a:latin typeface="Arial"/>
                <a:ea typeface="Arial"/>
                <a:cs typeface="Arial"/>
              </a:rPr>
              <a:t>Leakage control</a:t>
            </a:r>
          </a:p>
        </p:txBody>
      </p:sp>
      <p:sp>
        <p:nvSpPr>
          <p:cNvPr id="6" name="">
            <a:extLst xmlns:a="http://schemas.openxmlformats.org/drawingml/2006/main">
              <a:ext uri="{FF2B5EF4-FFF2-40B4-BE49-F238E27FC236}">
                <a16:creationId xmlns:a16="http://schemas.microsoft.com/office/drawing/2014/main" id="{2A63D0C9-E17F-441B-BC63-231B3715CBC3}"/>
              </a:ext>
            </a:extLst>
          </p:cNvPr>
          <p:cNvSpPr>
            <a:spLocks xmlns:a="http://schemas.openxmlformats.org/drawingml/2006/main" noGrp="1"/>
          </p:cNvSpPr>
          <p:nvPr/>
        </p:nvSpPr>
        <p:spPr>
          <a:xfrm xmlns:a="http://schemas.openxmlformats.org/drawingml/2006/main">
            <a:off x="6477000" y="2286000"/>
            <a:ext cx="5143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Remove unit_price and total_price.</a:t>
            </a:r>
          </a:p>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They reveal the target price.</a:t>
            </a:r>
          </a:p>
          <a:p xmlns:a="http://schemas.openxmlformats.org/drawingml/2006/main">
            <a:r>
              <a:t/>
            </a:r>
          </a:p>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Exclude names, IDs and free text.</a:t>
            </a:r>
          </a:p>
        </p:txBody>
      </p:sp>
      <p:sp>
        <p:nvSpPr>
          <p:cNvPr id="7" name="">
            <a:extLst xmlns:a="http://schemas.openxmlformats.org/drawingml/2006/main">
              <a:ext uri="{FF2B5EF4-FFF2-40B4-BE49-F238E27FC236}">
                <a16:creationId xmlns:a16="http://schemas.microsoft.com/office/drawing/2014/main" id="{AFA2D433-E260-4B29-B758-8EDA5D95D9F8}"/>
              </a:ext>
            </a:extLst>
          </p:cNvPr>
          <p:cNvSpPr>
            <a:spLocks xmlns:a="http://schemas.openxmlformats.org/drawingml/2006/main" noGrp="1"/>
          </p:cNvSpPr>
          <p:nvPr/>
        </p:nvSpPr>
        <p:spPr>
          <a:xfrm xmlns:a="http://schemas.openxmlformats.org/drawingml/2006/main">
            <a:off x="609600" y="5000625"/>
            <a:ext cx="5334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16A89"/>
                </a:solidFill>
                <a:latin typeface="Arial"/>
                <a:ea typeface="Arial"/>
                <a:cs typeface="Arial"/>
              </a:defRPr>
            </a:pPr>
            <a:r>
              <a:rPr sz="2850" b="1">
                <a:solidFill>
                  <a:srgbClr val="216A89"/>
                </a:solidFill>
                <a:latin typeface="Arial"/>
                <a:ea typeface="Arial"/>
                <a:cs typeface="Arial"/>
              </a:rPr>
              <a:t>179 model features</a:t>
            </a:r>
          </a:p>
        </p:txBody>
      </p:sp>
      <p:sp>
        <p:nvSpPr>
          <p:cNvPr id="8" name="">
            <a:extLst xmlns:a="http://schemas.openxmlformats.org/drawingml/2006/main">
              <a:ext uri="{FF2B5EF4-FFF2-40B4-BE49-F238E27FC236}">
                <a16:creationId xmlns:a16="http://schemas.microsoft.com/office/drawing/2014/main" id="{ABACBAF9-4E22-4D66-A3E8-C34F17707DAA}"/>
              </a:ext>
            </a:extLst>
          </p:cNvPr>
          <p:cNvSpPr>
            <a:spLocks xmlns:a="http://schemas.openxmlformats.org/drawingml/2006/main" noGrp="1"/>
          </p:cNvSpPr>
          <p:nvPr/>
        </p:nvSpPr>
        <p:spPr>
          <a:xfrm xmlns:a="http://schemas.openxmlformats.org/drawingml/2006/main">
            <a:off x="609600" y="56197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976"/>
                </a:solidFill>
                <a:latin typeface="Arial"/>
                <a:ea typeface="Arial"/>
                <a:cs typeface="Arial"/>
              </a:defRPr>
            </a:pPr>
            <a:r>
              <a:rPr sz="1950" b="0">
                <a:solidFill>
                  <a:srgbClr val="526976"/>
                </a:solidFill>
                <a:latin typeface="Arial"/>
                <a:ea typeface="Arial"/>
                <a:cs typeface="Arial"/>
              </a:rPr>
              <a:t>Numeric values, missing indicators and one-hot categories</a:t>
            </a:r>
          </a:p>
        </p:txBody>
      </p:sp>
    </p:spTree>
    <p:extLst>
      <p:ext uri="{BB962C8B-B14F-4D97-AF65-F5344CB8AC3E}">
        <p14:creationId xmlns:p14="http://schemas.microsoft.com/office/powerpoint/2010/main" val="1495798592"/>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70DC17-7537-49C3-A648-DB9AD7911738}"/>
              </a:ext>
            </a:extLst>
          </p:cNvPr>
          <p:cNvSpPr>
            <a:spLocks xmlns:a="http://schemas.openxmlformats.org/drawingml/2006/main" noGrp="1"/>
          </p:cNvSpPr>
          <p:nvPr/>
        </p:nvSpPr>
        <p:spPr>
          <a:xfrm xmlns:a="http://schemas.openxmlformats.org/drawingml/2006/main">
            <a:off x="609600" y="457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B3C"/>
                </a:solidFill>
                <a:latin typeface="Arial"/>
                <a:ea typeface="Arial"/>
                <a:cs typeface="Arial"/>
              </a:defRPr>
            </a:pPr>
            <a:r>
              <a:rPr sz="3300" b="1">
                <a:solidFill>
                  <a:srgbClr val="112B3C"/>
                </a:solidFill>
                <a:latin typeface="Arial"/>
                <a:ea typeface="Arial"/>
                <a:cs typeface="Arial"/>
              </a:rPr>
              <a:t>Decision tree: learning useful splits</a:t>
            </a:r>
          </a:p>
        </p:txBody>
      </p:sp>
      <p:sp>
        <p:nvSpPr>
          <p:cNvPr id="2" name="">
            <a:extLst xmlns:a="http://schemas.openxmlformats.org/drawingml/2006/main">
              <a:ext uri="{FF2B5EF4-FFF2-40B4-BE49-F238E27FC236}">
                <a16:creationId xmlns:a16="http://schemas.microsoft.com/office/drawing/2014/main" id="{00CB6581-33D6-4CE3-A3A2-0854B760AEF7}"/>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A6D17CC2-F69D-406C-91BB-CA50A17B4978}"/>
              </a:ext>
            </a:extLst>
          </p:cNvPr>
          <p:cNvSpPr>
            <a:spLocks xmlns:a="http://schemas.openxmlformats.org/drawingml/2006/main" noGrp="1"/>
          </p:cNvSpPr>
          <p:nvPr/>
        </p:nvSpPr>
        <p:spPr>
          <a:xfrm xmlns:a="http://schemas.openxmlformats.org/drawingml/2006/main">
            <a:off x="609600" y="1571625"/>
            <a:ext cx="10763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12B3C"/>
                </a:solidFill>
                <a:latin typeface="Arial"/>
                <a:ea typeface="Arial"/>
                <a:cs typeface="Arial"/>
              </a:defRPr>
            </a:pPr>
            <a:r>
              <a:rPr sz="2400" b="0">
                <a:solidFill>
                  <a:srgbClr val="112B3C"/>
                </a:solidFill>
                <a:latin typeface="Arial"/>
                <a:ea typeface="Arial"/>
                <a:cs typeface="Arial"/>
              </a:rPr>
              <a:t>1  Try a feature and a threshold</a:t>
            </a:r>
          </a:p>
          <a:p xmlns:a="http://schemas.openxmlformats.org/drawingml/2006/main">
            <a:pPr>
              <a:defRPr sz="2400" b="0">
                <a:solidFill>
                  <a:srgbClr val="112B3C"/>
                </a:solidFill>
                <a:latin typeface="Arial"/>
                <a:ea typeface="Arial"/>
                <a:cs typeface="Arial"/>
              </a:defRPr>
            </a:pPr>
            <a:r>
              <a:rPr sz="2400" b="0">
                <a:solidFill>
                  <a:srgbClr val="112B3C"/>
                </a:solidFill>
                <a:latin typeface="Arial"/>
                <a:ea typeface="Arial"/>
                <a:cs typeface="Arial"/>
              </a:rPr>
              <a:t>2  Choose the largest impurity reduction</a:t>
            </a:r>
          </a:p>
          <a:p xmlns:a="http://schemas.openxmlformats.org/drawingml/2006/main">
            <a:pPr>
              <a:defRPr sz="2400" b="0">
                <a:solidFill>
                  <a:srgbClr val="112B3C"/>
                </a:solidFill>
                <a:latin typeface="Arial"/>
                <a:ea typeface="Arial"/>
                <a:cs typeface="Arial"/>
              </a:defRPr>
            </a:pPr>
            <a:r>
              <a:rPr sz="2400" b="0">
                <a:solidFill>
                  <a:srgbClr val="112B3C"/>
                </a:solidFill>
                <a:latin typeface="Arial"/>
                <a:ea typeface="Arial"/>
                <a:cs typeface="Arial"/>
              </a:rPr>
              <a:t>3  Repeat until a stopping rule applies</a:t>
            </a:r>
          </a:p>
        </p:txBody>
      </p:sp>
      <p:graphicFrame>
        <p:nvGraphicFramePr>
          <p:cNvPr id="9" name=""/>
          <p:cNvGraphicFramePr/>
          <p:nvPr/>
        </p:nvGraphicFramePr>
        <p:xfrm>
          <a:off xmlns:a="http://schemas.openxmlformats.org/drawingml/2006/main" x="609600" y="3619500"/>
          <a:ext xmlns:a="http://schemas.openxmlformats.org/drawingml/2006/main" cx="10972800" cy="1657350"/>
        </p:xfrm>
        <a:graphic xmlns:a="http://schemas.openxmlformats.org/drawingml/2006/main">
          <a:graphicData uri="http://schemas.openxmlformats.org/drawingml/2006/table">
            <a:tbl>
              <a:tblPr/>
              <a:tblGrid>
                <a:gridCol w="3381375"/>
                <a:gridCol w="3876675"/>
                <a:gridCol w="1619250"/>
                <a:gridCol w="2095500"/>
              </a:tblGrid>
              <a:tr h="552450">
                <a:tc>
                  <a:txBody>
                    <a:bodyPr/>
                    <a:lstStyle/>
                    <a:p>
                      <a:r>
                        <a:rPr sz="1725" b="1">
                          <a:solidFill>
                            <a:srgbClr val="FFFFFF"/>
                          </a:solidFill>
                          <a:latin typeface="Arial"/>
                          <a:ea typeface="Arial"/>
                          <a:cs typeface="Arial"/>
                        </a:rPr>
                        <a:t>Task</a:t>
                      </a:r>
                    </a:p>
                  </a:txBody>
                  <a:tcPr marL="91440" marR="91440" marT="45720" marB="45720">
                    <a:solidFill>
                      <a:srgbClr val="112B3C"/>
                    </a:solidFill>
                  </a:tcPr>
                </a:tc>
                <a:tc>
                  <a:txBody>
                    <a:bodyPr/>
                    <a:lstStyle/>
                    <a:p>
                      <a:r>
                        <a:rPr sz="1725" b="1">
                          <a:solidFill>
                            <a:srgbClr val="FFFFFF"/>
                          </a:solidFill>
                          <a:latin typeface="Arial"/>
                          <a:ea typeface="Arial"/>
                          <a:cs typeface="Arial"/>
                        </a:rPr>
                        <a:t>Split criterion</a:t>
                      </a:r>
                    </a:p>
                  </a:txBody>
                  <a:tcPr marL="91440" marR="91440" marT="45720" marB="45720">
                    <a:solidFill>
                      <a:srgbClr val="112B3C"/>
                    </a:solidFill>
                  </a:tcPr>
                </a:tc>
                <a:tc>
                  <a:txBody>
                    <a:bodyPr/>
                    <a:lstStyle/>
                    <a:p>
                      <a:r>
                        <a:rPr sz="1725" b="1">
                          <a:solidFill>
                            <a:srgbClr val="FFFFFF"/>
                          </a:solidFill>
                          <a:latin typeface="Arial"/>
                          <a:ea typeface="Arial"/>
                          <a:cs typeface="Arial"/>
                        </a:rPr>
                        <a:t>Depth</a:t>
                      </a:r>
                    </a:p>
                  </a:txBody>
                  <a:tcPr marL="91440" marR="91440" marT="45720" marB="45720">
                    <a:solidFill>
                      <a:srgbClr val="112B3C"/>
                    </a:solidFill>
                  </a:tcPr>
                </a:tc>
                <a:tc>
                  <a:txBody>
                    <a:bodyPr/>
                    <a:lstStyle/>
                    <a:p>
                      <a:r>
                        <a:rPr sz="1725" b="1">
                          <a:solidFill>
                            <a:srgbClr val="FFFFFF"/>
                          </a:solidFill>
                          <a:latin typeface="Arial"/>
                          <a:ea typeface="Arial"/>
                          <a:cs typeface="Arial"/>
                        </a:rPr>
                        <a:t>Min. leaf</a:t>
                      </a:r>
                    </a:p>
                  </a:txBody>
                  <a:tcPr marL="91440" marR="91440" marT="45720" marB="45720">
                    <a:solidFill>
                      <a:srgbClr val="112B3C"/>
                    </a:solidFill>
                  </a:tcPr>
                </a:tc>
              </a:tr>
              <a:tr h="552450">
                <a:tc>
                  <a:txBody>
                    <a:bodyPr/>
                    <a:lstStyle/>
                    <a:p>
                      <a:r>
                        <a:rPr sz="1725" b="0">
                          <a:solidFill>
                            <a:srgbClr val="112B3C"/>
                          </a:solidFill>
                          <a:latin typeface="Arial"/>
                          <a:ea typeface="Arial"/>
                          <a:cs typeface="Arial"/>
                        </a:rPr>
                        <a:t>Price regression</a:t>
                      </a:r>
                    </a:p>
                  </a:txBody>
                  <a:tcPr marL="91440" marR="91440" marT="45720" marB="45720">
                    <a:solidFill>
                      <a:srgbClr val="FFFFFF"/>
                    </a:solidFill>
                  </a:tcPr>
                </a:tc>
                <a:tc>
                  <a:txBody>
                    <a:bodyPr/>
                    <a:lstStyle/>
                    <a:p>
                      <a:r>
                        <a:rPr sz="1725" b="0">
                          <a:solidFill>
                            <a:srgbClr val="112B3C"/>
                          </a:solidFill>
                          <a:latin typeface="Arial"/>
                          <a:ea typeface="Arial"/>
                          <a:cs typeface="Arial"/>
                        </a:rPr>
                        <a:t>MSE on log(price)</a:t>
                      </a:r>
                    </a:p>
                  </a:txBody>
                  <a:tcPr marL="91440" marR="91440" marT="45720" marB="45720">
                    <a:solidFill>
                      <a:srgbClr val="FFFFFF"/>
                    </a:solidFill>
                  </a:tcPr>
                </a:tc>
                <a:tc>
                  <a:txBody>
                    <a:bodyPr/>
                    <a:lstStyle/>
                    <a:p>
                      <a:r>
                        <a:rPr sz="1725" b="0">
                          <a:solidFill>
                            <a:srgbClr val="112B3C"/>
                          </a:solidFill>
                          <a:latin typeface="Arial"/>
                          <a:ea typeface="Arial"/>
                          <a:cs typeface="Arial"/>
                        </a:rPr>
                        <a:t>18</a:t>
                      </a:r>
                    </a:p>
                  </a:txBody>
                  <a:tcPr marL="91440" marR="91440" marT="45720" marB="45720">
                    <a:solidFill>
                      <a:srgbClr val="FFFFFF"/>
                    </a:solidFill>
                  </a:tcPr>
                </a:tc>
                <a:tc>
                  <a:txBody>
                    <a:bodyPr/>
                    <a:lstStyle/>
                    <a:p>
                      <a:r>
                        <a:rPr sz="1725" b="0">
                          <a:solidFill>
                            <a:srgbClr val="112B3C"/>
                          </a:solidFill>
                          <a:latin typeface="Arial"/>
                          <a:ea typeface="Arial"/>
                          <a:cs typeface="Arial"/>
                        </a:rPr>
                        <a:t>20</a:t>
                      </a:r>
                    </a:p>
                  </a:txBody>
                  <a:tcPr marL="91440" marR="91440" marT="45720" marB="45720">
                    <a:solidFill>
                      <a:srgbClr val="FFFFFF"/>
                    </a:solidFill>
                  </a:tcPr>
                </a:tc>
              </a:tr>
              <a:tr h="552450">
                <a:tc>
                  <a:txBody>
                    <a:bodyPr/>
                    <a:lstStyle/>
                    <a:p>
                      <a:r>
                        <a:rPr sz="1725" b="0">
                          <a:solidFill>
                            <a:srgbClr val="112B3C"/>
                          </a:solidFill>
                          <a:latin typeface="Arial"/>
                          <a:ea typeface="Arial"/>
                          <a:cs typeface="Arial"/>
                        </a:rPr>
                        <a:t>Price tier</a:t>
                      </a:r>
                    </a:p>
                  </a:txBody>
                  <a:tcPr marL="91440" marR="91440" marT="45720" marB="45720">
                    <a:solidFill>
                      <a:srgbClr val="EAF0F0"/>
                    </a:solidFill>
                  </a:tcPr>
                </a:tc>
                <a:tc>
                  <a:txBody>
                    <a:bodyPr/>
                    <a:lstStyle/>
                    <a:p>
                      <a:r>
                        <a:rPr sz="1725" b="0">
                          <a:solidFill>
                            <a:srgbClr val="112B3C"/>
                          </a:solidFill>
                          <a:latin typeface="Arial"/>
                          <a:ea typeface="Arial"/>
                          <a:cs typeface="Arial"/>
                        </a:rPr>
                        <a:t>Gini</a:t>
                      </a:r>
                    </a:p>
                  </a:txBody>
                  <a:tcPr marL="91440" marR="91440" marT="45720" marB="45720">
                    <a:solidFill>
                      <a:srgbClr val="EAF0F0"/>
                    </a:solidFill>
                  </a:tcPr>
                </a:tc>
                <a:tc>
                  <a:txBody>
                    <a:bodyPr/>
                    <a:lstStyle/>
                    <a:p>
                      <a:r>
                        <a:rPr sz="1725" b="0">
                          <a:solidFill>
                            <a:srgbClr val="112B3C"/>
                          </a:solidFill>
                          <a:latin typeface="Arial"/>
                          <a:ea typeface="Arial"/>
                          <a:cs typeface="Arial"/>
                        </a:rPr>
                        <a:t>10</a:t>
                      </a:r>
                    </a:p>
                  </a:txBody>
                  <a:tcPr marL="91440" marR="91440" marT="45720" marB="45720">
                    <a:solidFill>
                      <a:srgbClr val="EAF0F0"/>
                    </a:solidFill>
                  </a:tcPr>
                </a:tc>
                <a:tc>
                  <a:txBody>
                    <a:bodyPr/>
                    <a:lstStyle/>
                    <a:p>
                      <a:r>
                        <a:rPr sz="1725" b="0">
                          <a:solidFill>
                            <a:srgbClr val="112B3C"/>
                          </a:solidFill>
                          <a:latin typeface="Arial"/>
                          <a:ea typeface="Arial"/>
                          <a:cs typeface="Arial"/>
                        </a:rPr>
                        <a:t>5</a:t>
                      </a:r>
                    </a:p>
                  </a:txBody>
                  <a:tcPr marL="91440" marR="91440" marT="45720" marB="45720">
                    <a:solidFill>
                      <a:srgbClr val="EAF0F0"/>
                    </a:solidFill>
                  </a:tcPr>
                </a:tc>
              </a:tr>
            </a:tbl>
          </a:graphicData>
        </a:graphic>
      </p:graphicFrame>
      <p:sp>
        <p:nvSpPr>
          <p:cNvPr id="5" name="">
            <a:extLst xmlns:a="http://schemas.openxmlformats.org/drawingml/2006/main">
              <a:ext uri="{FF2B5EF4-FFF2-40B4-BE49-F238E27FC236}">
                <a16:creationId xmlns:a16="http://schemas.microsoft.com/office/drawing/2014/main" id="{0B917BEC-4722-448A-8AD6-26173248D4F7}"/>
              </a:ext>
            </a:extLst>
          </p:cNvPr>
          <p:cNvSpPr>
            <a:spLocks xmlns:a="http://schemas.openxmlformats.org/drawingml/2006/main" noGrp="1"/>
          </p:cNvSpPr>
          <p:nvPr/>
        </p:nvSpPr>
        <p:spPr>
          <a:xfrm xmlns:a="http://schemas.openxmlformats.org/drawingml/2006/main">
            <a:off x="609600" y="56197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976"/>
                </a:solidFill>
                <a:latin typeface="Arial"/>
                <a:ea typeface="Arial"/>
                <a:cs typeface="Arial"/>
              </a:defRPr>
            </a:pPr>
            <a:r>
              <a:rPr sz="1950" b="0">
                <a:solidFill>
                  <a:srgbClr val="526976"/>
                </a:solidFill>
                <a:latin typeface="Arial"/>
                <a:ea typeface="Arial"/>
                <a:cs typeface="Arial"/>
              </a:rPr>
              <a:t>Regression leaves return a mean log price. Class leaves return class counts and probabilities.</a:t>
            </a:r>
          </a:p>
        </p:txBody>
      </p:sp>
    </p:spTree>
    <p:extLst>
      <p:ext uri="{BB962C8B-B14F-4D97-AF65-F5344CB8AC3E}">
        <p14:creationId xmlns:p14="http://schemas.microsoft.com/office/powerpoint/2010/main" val="1815286687"/>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3EEC5D-7AEF-4C0D-A6B6-9BE87C391B96}"/>
              </a:ext>
            </a:extLst>
          </p:cNvPr>
          <p:cNvSpPr>
            <a:spLocks xmlns:a="http://schemas.openxmlformats.org/drawingml/2006/main" noGrp="1"/>
          </p:cNvSpPr>
          <p:nvPr/>
        </p:nvSpPr>
        <p:spPr>
          <a:xfrm xmlns:a="http://schemas.openxmlformats.org/drawingml/2006/main">
            <a:off x="609600" y="457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B3C"/>
                </a:solidFill>
                <a:latin typeface="Arial"/>
                <a:ea typeface="Arial"/>
                <a:cs typeface="Arial"/>
              </a:defRPr>
            </a:pPr>
            <a:r>
              <a:rPr sz="3300" b="1">
                <a:solidFill>
                  <a:srgbClr val="112B3C"/>
                </a:solidFill>
                <a:latin typeface="Arial"/>
                <a:ea typeface="Arial"/>
                <a:cs typeface="Arial"/>
              </a:rPr>
              <a:t>Pegasos SVM and the non-linear option</a:t>
            </a:r>
          </a:p>
        </p:txBody>
      </p:sp>
      <p:sp>
        <p:nvSpPr>
          <p:cNvPr id="2" name="">
            <a:extLst xmlns:a="http://schemas.openxmlformats.org/drawingml/2006/main">
              <a:ext uri="{FF2B5EF4-FFF2-40B4-BE49-F238E27FC236}">
                <a16:creationId xmlns:a16="http://schemas.microsoft.com/office/drawing/2014/main" id="{D0B3C692-9AB1-45A8-9B4D-E72CB80FC47F}"/>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EEC4F04C-FFDB-4966-910C-F91850EB014E}"/>
              </a:ext>
            </a:extLst>
          </p:cNvPr>
          <p:cNvSpPr>
            <a:spLocks xmlns:a="http://schemas.openxmlformats.org/drawingml/2006/main" noGrp="1"/>
          </p:cNvSpPr>
          <p:nvPr/>
        </p:nvSpPr>
        <p:spPr>
          <a:xfrm xmlns:a="http://schemas.openxmlformats.org/drawingml/2006/main">
            <a:off x="609600" y="14478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16A89"/>
                </a:solidFill>
                <a:latin typeface="Arial"/>
                <a:ea typeface="Arial"/>
                <a:cs typeface="Arial"/>
              </a:defRPr>
            </a:pPr>
            <a:r>
              <a:rPr sz="2325" b="1">
                <a:solidFill>
                  <a:srgbClr val="216A89"/>
                </a:solidFill>
                <a:latin typeface="Arial"/>
                <a:ea typeface="Arial"/>
                <a:cs typeface="Arial"/>
              </a:rPr>
              <a:t>Goal: separate the two price tiers with a wide margin</a:t>
            </a:r>
          </a:p>
        </p:txBody>
      </p:sp>
      <p:sp>
        <p:nvSpPr>
          <p:cNvPr id="4" name="">
            <a:extLst xmlns:a="http://schemas.openxmlformats.org/drawingml/2006/main">
              <a:ext uri="{FF2B5EF4-FFF2-40B4-BE49-F238E27FC236}">
                <a16:creationId xmlns:a16="http://schemas.microsoft.com/office/drawing/2014/main" id="{139C80F3-4B92-4DA6-9AEA-7796796E3810}"/>
              </a:ext>
            </a:extLst>
          </p:cNvPr>
          <p:cNvSpPr>
            <a:spLocks xmlns:a="http://schemas.openxmlformats.org/drawingml/2006/main" noGrp="1"/>
          </p:cNvSpPr>
          <p:nvPr/>
        </p:nvSpPr>
        <p:spPr>
          <a:xfrm xmlns:a="http://schemas.openxmlformats.org/drawingml/2006/main">
            <a:off x="609600" y="2333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12B3C"/>
                </a:solidFill>
                <a:latin typeface="Arial"/>
                <a:ea typeface="Arial"/>
                <a:cs typeface="Arial"/>
              </a:defRPr>
            </a:pPr>
            <a:r>
              <a:rPr sz="2400" b="1">
                <a:solidFill>
                  <a:srgbClr val="112B3C"/>
                </a:solidFill>
                <a:latin typeface="Arial"/>
                <a:ea typeface="Arial"/>
                <a:cs typeface="Arial"/>
              </a:rPr>
              <a:t>Loss = λ/2 × ||w||² + mean(max(0, 1 − y × score))</a:t>
            </a:r>
          </a:p>
        </p:txBody>
      </p:sp>
      <p:sp>
        <p:nvSpPr>
          <p:cNvPr id="5" name="">
            <a:extLst xmlns:a="http://schemas.openxmlformats.org/drawingml/2006/main">
              <a:ext uri="{FF2B5EF4-FFF2-40B4-BE49-F238E27FC236}">
                <a16:creationId xmlns:a16="http://schemas.microsoft.com/office/drawing/2014/main" id="{4EA9B524-1DC7-4C18-A67E-E8A730D98132}"/>
              </a:ext>
            </a:extLst>
          </p:cNvPr>
          <p:cNvSpPr>
            <a:spLocks xmlns:a="http://schemas.openxmlformats.org/drawingml/2006/main" noGrp="1"/>
          </p:cNvSpPr>
          <p:nvPr/>
        </p:nvSpPr>
        <p:spPr>
          <a:xfrm xmlns:a="http://schemas.openxmlformats.org/drawingml/2006/main">
            <a:off x="609600" y="339090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16A89"/>
                </a:solidFill>
                <a:latin typeface="Arial"/>
                <a:ea typeface="Arial"/>
                <a:cs typeface="Arial"/>
              </a:defRPr>
            </a:pPr>
            <a:r>
              <a:rPr sz="2325" b="1">
                <a:solidFill>
                  <a:srgbClr val="216A89"/>
                </a:solidFill>
                <a:latin typeface="Arial"/>
                <a:ea typeface="Arial"/>
                <a:cs typeface="Arial"/>
              </a:rPr>
              <a:t>Pegasos update</a:t>
            </a:r>
          </a:p>
        </p:txBody>
      </p:sp>
      <p:sp>
        <p:nvSpPr>
          <p:cNvPr id="6" name="">
            <a:extLst xmlns:a="http://schemas.openxmlformats.org/drawingml/2006/main">
              <a:ext uri="{FF2B5EF4-FFF2-40B4-BE49-F238E27FC236}">
                <a16:creationId xmlns:a16="http://schemas.microsoft.com/office/drawing/2014/main" id="{8F880B67-53DE-4CD1-9896-40D02C685C19}"/>
              </a:ext>
            </a:extLst>
          </p:cNvPr>
          <p:cNvSpPr>
            <a:spLocks xmlns:a="http://schemas.openxmlformats.org/drawingml/2006/main" noGrp="1"/>
          </p:cNvSpPr>
          <p:nvPr/>
        </p:nvSpPr>
        <p:spPr>
          <a:xfrm xmlns:a="http://schemas.openxmlformats.org/drawingml/2006/main">
            <a:off x="609600" y="4000500"/>
            <a:ext cx="52863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Learning rate: 1 / (λ × step)</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Update weights for margin violations.</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Project weights to the allowed size.</a:t>
            </a:r>
          </a:p>
        </p:txBody>
      </p:sp>
      <p:sp>
        <p:nvSpPr>
          <p:cNvPr id="7" name="">
            <a:extLst xmlns:a="http://schemas.openxmlformats.org/drawingml/2006/main">
              <a:ext uri="{FF2B5EF4-FFF2-40B4-BE49-F238E27FC236}">
                <a16:creationId xmlns:a16="http://schemas.microsoft.com/office/drawing/2014/main" id="{0C2A8D63-1ED4-4BBA-BAAF-B4B86AF219E5}"/>
              </a:ext>
            </a:extLst>
          </p:cNvPr>
          <p:cNvSpPr>
            <a:spLocks xmlns:a="http://schemas.openxmlformats.org/drawingml/2006/main" noGrp="1"/>
          </p:cNvSpPr>
          <p:nvPr/>
        </p:nvSpPr>
        <p:spPr>
          <a:xfrm xmlns:a="http://schemas.openxmlformats.org/drawingml/2006/main">
            <a:off x="6477000" y="33909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8C83"/>
                </a:solidFill>
                <a:latin typeface="Arial"/>
                <a:ea typeface="Arial"/>
                <a:cs typeface="Arial"/>
              </a:defRPr>
            </a:pPr>
            <a:r>
              <a:rPr sz="2325" b="1">
                <a:solidFill>
                  <a:srgbClr val="008C83"/>
                </a:solidFill>
                <a:latin typeface="Arial"/>
                <a:ea typeface="Arial"/>
                <a:cs typeface="Arial"/>
              </a:rPr>
              <a:t>Random Fourier Features</a:t>
            </a:r>
          </a:p>
        </p:txBody>
      </p:sp>
      <p:sp>
        <p:nvSpPr>
          <p:cNvPr id="8" name="">
            <a:extLst xmlns:a="http://schemas.openxmlformats.org/drawingml/2006/main">
              <a:ext uri="{FF2B5EF4-FFF2-40B4-BE49-F238E27FC236}">
                <a16:creationId xmlns:a16="http://schemas.microsoft.com/office/drawing/2014/main" id="{E1BEA847-09D7-4AA1-881A-51E44591F5C8}"/>
              </a:ext>
            </a:extLst>
          </p:cNvPr>
          <p:cNvSpPr>
            <a:spLocks xmlns:a="http://schemas.openxmlformats.org/drawingml/2006/main" noGrp="1"/>
          </p:cNvSpPr>
          <p:nvPr/>
        </p:nvSpPr>
        <p:spPr>
          <a:xfrm xmlns:a="http://schemas.openxmlformats.org/drawingml/2006/main">
            <a:off x="6477000" y="4000500"/>
            <a:ext cx="5095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Approximate an RBF kernel.</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Use 512 cosine features.</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Then train the same linear SVM.</a:t>
            </a:r>
          </a:p>
        </p:txBody>
      </p:sp>
      <p:sp>
        <p:nvSpPr>
          <p:cNvPr id="9" name="">
            <a:extLst xmlns:a="http://schemas.openxmlformats.org/drawingml/2006/main">
              <a:ext uri="{FF2B5EF4-FFF2-40B4-BE49-F238E27FC236}">
                <a16:creationId xmlns:a16="http://schemas.microsoft.com/office/drawing/2014/main" id="{29C2A227-326D-46A8-A985-84BC510B4038}"/>
              </a:ext>
            </a:extLst>
          </p:cNvPr>
          <p:cNvSpPr>
            <a:spLocks xmlns:a="http://schemas.openxmlformats.org/drawingml/2006/main" noGrp="1"/>
          </p:cNvSpPr>
          <p:nvPr/>
        </p:nvSpPr>
        <p:spPr>
          <a:xfrm xmlns:a="http://schemas.openxmlformats.org/drawingml/2006/main">
            <a:off x="609600" y="59721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Linear: λ = 0.01, 40 epochs     RFF: λ = 0.0001, γ = 0.003, 80 epochs</a:t>
            </a:r>
          </a:p>
        </p:txBody>
      </p:sp>
    </p:spTree>
    <p:extLst>
      <p:ext uri="{BB962C8B-B14F-4D97-AF65-F5344CB8AC3E}">
        <p14:creationId xmlns:p14="http://schemas.microsoft.com/office/powerpoint/2010/main" val="250999159"/>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A0390D-D8B6-449C-9315-03E5C8965FF6}"/>
              </a:ext>
            </a:extLst>
          </p:cNvPr>
          <p:cNvSpPr>
            <a:spLocks xmlns:a="http://schemas.openxmlformats.org/drawingml/2006/main" noGrp="1"/>
          </p:cNvSpPr>
          <p:nvPr/>
        </p:nvSpPr>
        <p:spPr>
          <a:xfrm xmlns:a="http://schemas.openxmlformats.org/drawingml/2006/main">
            <a:off x="609600" y="457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B3C"/>
                </a:solidFill>
                <a:latin typeface="Arial"/>
                <a:ea typeface="Arial"/>
                <a:cs typeface="Arial"/>
              </a:defRPr>
            </a:pPr>
            <a:r>
              <a:rPr sz="3300" b="1">
                <a:solidFill>
                  <a:srgbClr val="112B3C"/>
                </a:solidFill>
                <a:latin typeface="Arial"/>
                <a:ea typeface="Arial"/>
                <a:cs typeface="Arial"/>
              </a:rPr>
              <a:t>Experiment design and repeatability</a:t>
            </a:r>
          </a:p>
        </p:txBody>
      </p:sp>
      <p:sp>
        <p:nvSpPr>
          <p:cNvPr id="2" name="">
            <a:extLst xmlns:a="http://schemas.openxmlformats.org/drawingml/2006/main">
              <a:ext uri="{FF2B5EF4-FFF2-40B4-BE49-F238E27FC236}">
                <a16:creationId xmlns:a16="http://schemas.microsoft.com/office/drawing/2014/main" id="{FB123FC6-2044-4951-B54B-10E49041146C}"/>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06</a:t>
            </a:r>
          </a:p>
        </p:txBody>
      </p:sp>
      <p:graphicFrame>
        <p:nvGraphicFramePr>
          <p:cNvPr id="10" name=""/>
          <p:cNvGraphicFramePr/>
          <p:nvPr/>
        </p:nvGraphicFramePr>
        <p:xfrm>
          <a:off xmlns:a="http://schemas.openxmlformats.org/drawingml/2006/main" x="609600" y="1581150"/>
          <a:ext xmlns:a="http://schemas.openxmlformats.org/drawingml/2006/main" cx="10972800" cy="2266950"/>
        </p:xfrm>
        <a:graphic xmlns:a="http://schemas.openxmlformats.org/drawingml/2006/main">
          <a:graphicData uri="http://schemas.openxmlformats.org/drawingml/2006/table">
            <a:tbl>
              <a:tblPr/>
              <a:tblGrid>
                <a:gridCol w="2667000"/>
                <a:gridCol w="2238375"/>
                <a:gridCol w="6067425"/>
              </a:tblGrid>
              <a:tr h="566738">
                <a:tc>
                  <a:txBody>
                    <a:bodyPr/>
                    <a:lstStyle/>
                    <a:p>
                      <a:r>
                        <a:rPr sz="1725" b="1">
                          <a:solidFill>
                            <a:srgbClr val="FFFFFF"/>
                          </a:solidFill>
                          <a:latin typeface="Arial"/>
                          <a:ea typeface="Arial"/>
                          <a:cs typeface="Arial"/>
                        </a:rPr>
                        <a:t>Partition</a:t>
                      </a:r>
                    </a:p>
                  </a:txBody>
                  <a:tcPr marL="91440" marR="91440" marT="45720" marB="45720">
                    <a:solidFill>
                      <a:srgbClr val="112B3C"/>
                    </a:solidFill>
                  </a:tcPr>
                </a:tc>
                <a:tc>
                  <a:txBody>
                    <a:bodyPr/>
                    <a:lstStyle/>
                    <a:p>
                      <a:r>
                        <a:rPr sz="1725" b="1">
                          <a:solidFill>
                            <a:srgbClr val="FFFFFF"/>
                          </a:solidFill>
                          <a:latin typeface="Arial"/>
                          <a:ea typeface="Arial"/>
                          <a:cs typeface="Arial"/>
                        </a:rPr>
                        <a:t>Rows</a:t>
                      </a:r>
                    </a:p>
                  </a:txBody>
                  <a:tcPr marL="91440" marR="91440" marT="45720" marB="45720">
                    <a:solidFill>
                      <a:srgbClr val="112B3C"/>
                    </a:solidFill>
                  </a:tcPr>
                </a:tc>
                <a:tc>
                  <a:txBody>
                    <a:bodyPr/>
                    <a:lstStyle/>
                    <a:p>
                      <a:r>
                        <a:rPr sz="1725" b="1">
                          <a:solidFill>
                            <a:srgbClr val="FFFFFF"/>
                          </a:solidFill>
                          <a:latin typeface="Arial"/>
                          <a:ea typeface="Arial"/>
                          <a:cs typeface="Arial"/>
                        </a:rPr>
                        <a:t>Purpose</a:t>
                      </a:r>
                    </a:p>
                  </a:txBody>
                  <a:tcPr marL="91440" marR="91440" marT="45720" marB="45720">
                    <a:solidFill>
                      <a:srgbClr val="112B3C"/>
                    </a:solidFill>
                  </a:tcPr>
                </a:tc>
              </a:tr>
              <a:tr h="566738">
                <a:tc>
                  <a:txBody>
                    <a:bodyPr/>
                    <a:lstStyle/>
                    <a:p>
                      <a:r>
                        <a:rPr sz="1725" b="0">
                          <a:solidFill>
                            <a:srgbClr val="112B3C"/>
                          </a:solidFill>
                          <a:latin typeface="Arial"/>
                          <a:ea typeface="Arial"/>
                          <a:cs typeface="Arial"/>
                        </a:rPr>
                        <a:t>Training</a:t>
                      </a:r>
                    </a:p>
                  </a:txBody>
                  <a:tcPr marL="91440" marR="91440" marT="45720" marB="45720">
                    <a:solidFill>
                      <a:srgbClr val="FFFFFF"/>
                    </a:solidFill>
                  </a:tcPr>
                </a:tc>
                <a:tc>
                  <a:txBody>
                    <a:bodyPr/>
                    <a:lstStyle/>
                    <a:p>
                      <a:r>
                        <a:rPr sz="1725" b="0">
                          <a:solidFill>
                            <a:srgbClr val="112B3C"/>
                          </a:solidFill>
                          <a:latin typeface="Arial"/>
                          <a:ea typeface="Arial"/>
                          <a:cs typeface="Arial"/>
                        </a:rPr>
                        <a:t>45,117</a:t>
                      </a:r>
                    </a:p>
                  </a:txBody>
                  <a:tcPr marL="91440" marR="91440" marT="45720" marB="45720">
                    <a:solidFill>
                      <a:srgbClr val="FFFFFF"/>
                    </a:solidFill>
                  </a:tcPr>
                </a:tc>
                <a:tc>
                  <a:txBody>
                    <a:bodyPr/>
                    <a:lstStyle/>
                    <a:p>
                      <a:r>
                        <a:rPr sz="1725" b="0">
                          <a:solidFill>
                            <a:srgbClr val="112B3C"/>
                          </a:solidFill>
                          <a:latin typeface="Arial"/>
                          <a:ea typeface="Arial"/>
                          <a:cs typeface="Arial"/>
                        </a:rPr>
                        <a:t>Fit models and preprocessing</a:t>
                      </a:r>
                    </a:p>
                  </a:txBody>
                  <a:tcPr marL="91440" marR="91440" marT="45720" marB="45720">
                    <a:solidFill>
                      <a:srgbClr val="FFFFFF"/>
                    </a:solidFill>
                  </a:tcPr>
                </a:tc>
              </a:tr>
              <a:tr h="566738">
                <a:tc>
                  <a:txBody>
                    <a:bodyPr/>
                    <a:lstStyle/>
                    <a:p>
                      <a:r>
                        <a:rPr sz="1725" b="0">
                          <a:solidFill>
                            <a:srgbClr val="112B3C"/>
                          </a:solidFill>
                          <a:latin typeface="Arial"/>
                          <a:ea typeface="Arial"/>
                          <a:cs typeface="Arial"/>
                        </a:rPr>
                        <a:t>Validation</a:t>
                      </a:r>
                    </a:p>
                  </a:txBody>
                  <a:tcPr marL="91440" marR="91440" marT="45720" marB="45720">
                    <a:solidFill>
                      <a:srgbClr val="EAF0F0"/>
                    </a:solidFill>
                  </a:tcPr>
                </a:tc>
                <a:tc>
                  <a:txBody>
                    <a:bodyPr/>
                    <a:lstStyle/>
                    <a:p>
                      <a:r>
                        <a:rPr sz="1725" b="0">
                          <a:solidFill>
                            <a:srgbClr val="112B3C"/>
                          </a:solidFill>
                          <a:latin typeface="Arial"/>
                          <a:ea typeface="Arial"/>
                          <a:cs typeface="Arial"/>
                        </a:rPr>
                        <a:t>9,668</a:t>
                      </a:r>
                    </a:p>
                  </a:txBody>
                  <a:tcPr marL="91440" marR="91440" marT="45720" marB="45720">
                    <a:solidFill>
                      <a:srgbClr val="EAF0F0"/>
                    </a:solidFill>
                  </a:tcPr>
                </a:tc>
                <a:tc>
                  <a:txBody>
                    <a:bodyPr/>
                    <a:lstStyle/>
                    <a:p>
                      <a:r>
                        <a:rPr sz="1725" b="0">
                          <a:solidFill>
                            <a:srgbClr val="112B3C"/>
                          </a:solidFill>
                          <a:latin typeface="Arial"/>
                          <a:ea typeface="Arial"/>
                          <a:cs typeface="Arial"/>
                        </a:rPr>
                        <a:t>Choose settings</a:t>
                      </a:r>
                    </a:p>
                  </a:txBody>
                  <a:tcPr marL="91440" marR="91440" marT="45720" marB="45720">
                    <a:solidFill>
                      <a:srgbClr val="EAF0F0"/>
                    </a:solidFill>
                  </a:tcPr>
                </a:tc>
              </a:tr>
              <a:tr h="566738">
                <a:tc>
                  <a:txBody>
                    <a:bodyPr/>
                    <a:lstStyle/>
                    <a:p>
                      <a:r>
                        <a:rPr sz="1725" b="0">
                          <a:solidFill>
                            <a:srgbClr val="112B3C"/>
                          </a:solidFill>
                          <a:latin typeface="Arial"/>
                          <a:ea typeface="Arial"/>
                          <a:cs typeface="Arial"/>
                        </a:rPr>
                        <a:t>Test</a:t>
                      </a:r>
                    </a:p>
                  </a:txBody>
                  <a:tcPr marL="91440" marR="91440" marT="45720" marB="45720">
                    <a:solidFill>
                      <a:srgbClr val="FFFFFF"/>
                    </a:solidFill>
                  </a:tcPr>
                </a:tc>
                <a:tc>
                  <a:txBody>
                    <a:bodyPr/>
                    <a:lstStyle/>
                    <a:p>
                      <a:r>
                        <a:rPr sz="1725" b="0">
                          <a:solidFill>
                            <a:srgbClr val="112B3C"/>
                          </a:solidFill>
                          <a:latin typeface="Arial"/>
                          <a:ea typeface="Arial"/>
                          <a:cs typeface="Arial"/>
                        </a:rPr>
                        <a:t>9,669</a:t>
                      </a:r>
                    </a:p>
                  </a:txBody>
                  <a:tcPr marL="91440" marR="91440" marT="45720" marB="45720">
                    <a:solidFill>
                      <a:srgbClr val="FFFFFF"/>
                    </a:solidFill>
                  </a:tcPr>
                </a:tc>
                <a:tc>
                  <a:txBody>
                    <a:bodyPr/>
                    <a:lstStyle/>
                    <a:p>
                      <a:r>
                        <a:rPr sz="1725" b="0">
                          <a:solidFill>
                            <a:srgbClr val="112B3C"/>
                          </a:solidFill>
                          <a:latin typeface="Arial"/>
                          <a:ea typeface="Arial"/>
                          <a:cs typeface="Arial"/>
                        </a:rPr>
                        <a:t>Report final comparisons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78AB361-89ED-4D7C-962F-F7FF43AA7779}"/>
              </a:ext>
            </a:extLst>
          </p:cNvPr>
          <p:cNvSpPr>
            <a:spLocks xmlns:a="http://schemas.openxmlformats.org/drawingml/2006/main" noGrp="1"/>
          </p:cNvSpPr>
          <p:nvPr/>
        </p:nvSpPr>
        <p:spPr>
          <a:xfrm xmlns:a="http://schemas.openxmlformats.org/drawingml/2006/main">
            <a:off x="609600" y="43434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16A89"/>
                </a:solidFill>
                <a:latin typeface="Arial"/>
                <a:ea typeface="Arial"/>
                <a:cs typeface="Arial"/>
              </a:defRPr>
            </a:pPr>
            <a:r>
              <a:rPr sz="2625" b="1">
                <a:solidFill>
                  <a:srgbClr val="216A89"/>
                </a:solidFill>
                <a:latin typeface="Arial"/>
                <a:ea typeface="Arial"/>
                <a:cs typeface="Arial"/>
              </a:rPr>
              <a:t>Seed 42</a:t>
            </a:r>
          </a:p>
        </p:txBody>
      </p:sp>
      <p:sp>
        <p:nvSpPr>
          <p:cNvPr id="5" name="">
            <a:extLst xmlns:a="http://schemas.openxmlformats.org/drawingml/2006/main">
              <a:ext uri="{FF2B5EF4-FFF2-40B4-BE49-F238E27FC236}">
                <a16:creationId xmlns:a16="http://schemas.microsoft.com/office/drawing/2014/main" id="{E3D551CB-DE2C-49B6-92C2-F3A08AB7FBFD}"/>
              </a:ext>
            </a:extLst>
          </p:cNvPr>
          <p:cNvSpPr>
            <a:spLocks xmlns:a="http://schemas.openxmlformats.org/drawingml/2006/main" noGrp="1"/>
          </p:cNvSpPr>
          <p:nvPr/>
        </p:nvSpPr>
        <p:spPr>
          <a:xfrm xmlns:a="http://schemas.openxmlformats.org/drawingml/2006/main">
            <a:off x="609600" y="495300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Three-fold CV uses training rows only.</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Each fold learns its own preprocessing.</a:t>
            </a:r>
          </a:p>
        </p:txBody>
      </p:sp>
      <p:sp>
        <p:nvSpPr>
          <p:cNvPr id="6" name="">
            <a:extLst xmlns:a="http://schemas.openxmlformats.org/drawingml/2006/main">
              <a:ext uri="{FF2B5EF4-FFF2-40B4-BE49-F238E27FC236}">
                <a16:creationId xmlns:a16="http://schemas.microsoft.com/office/drawing/2014/main" id="{98F6E6E8-D968-422C-ADFF-F32627CA49A7}"/>
              </a:ext>
            </a:extLst>
          </p:cNvPr>
          <p:cNvSpPr>
            <a:spLocks xmlns:a="http://schemas.openxmlformats.org/drawingml/2006/main" noGrp="1"/>
          </p:cNvSpPr>
          <p:nvPr/>
        </p:nvSpPr>
        <p:spPr>
          <a:xfrm xmlns:a="http://schemas.openxmlformats.org/drawingml/2006/main">
            <a:off x="6477000" y="434340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8C83"/>
                </a:solidFill>
                <a:latin typeface="Arial"/>
                <a:ea typeface="Arial"/>
                <a:cs typeface="Arial"/>
              </a:defRPr>
            </a:pPr>
            <a:r>
              <a:rPr sz="2325" b="1">
                <a:solidFill>
                  <a:srgbClr val="008C83"/>
                </a:solidFill>
                <a:latin typeface="Arial"/>
                <a:ea typeface="Arial"/>
                <a:cs typeface="Arial"/>
              </a:rPr>
              <a:t>Same data for both implementations</a:t>
            </a:r>
          </a:p>
        </p:txBody>
      </p:sp>
      <p:sp>
        <p:nvSpPr>
          <p:cNvPr id="7" name="">
            <a:extLst xmlns:a="http://schemas.openxmlformats.org/drawingml/2006/main">
              <a:ext uri="{FF2B5EF4-FFF2-40B4-BE49-F238E27FC236}">
                <a16:creationId xmlns:a16="http://schemas.microsoft.com/office/drawing/2014/main" id="{17495E4D-113C-424E-9C9A-BDCDA59591D5}"/>
              </a:ext>
            </a:extLst>
          </p:cNvPr>
          <p:cNvSpPr>
            <a:spLocks xmlns:a="http://schemas.openxmlformats.org/drawingml/2006/main" noGrp="1"/>
          </p:cNvSpPr>
          <p:nvPr/>
        </p:nvSpPr>
        <p:spPr>
          <a:xfrm xmlns:a="http://schemas.openxmlformats.org/drawingml/2006/main">
            <a:off x="6477000" y="5210175"/>
            <a:ext cx="5095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Matched tree settings and SVM inputs.</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SVM optimizers differ.</a:t>
            </a:r>
          </a:p>
        </p:txBody>
      </p:sp>
    </p:spTree>
    <p:extLst>
      <p:ext uri="{BB962C8B-B14F-4D97-AF65-F5344CB8AC3E}">
        <p14:creationId xmlns:p14="http://schemas.microsoft.com/office/powerpoint/2010/main" val="1781207057"/>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A05BCA-F880-46FA-893F-A3D883A6F60D}"/>
              </a:ext>
            </a:extLst>
          </p:cNvPr>
          <p:cNvSpPr>
            <a:spLocks xmlns:a="http://schemas.openxmlformats.org/drawingml/2006/main" noGrp="1"/>
          </p:cNvSpPr>
          <p:nvPr/>
        </p:nvSpPr>
        <p:spPr>
          <a:xfrm xmlns:a="http://schemas.openxmlformats.org/drawingml/2006/main">
            <a:off x="609600" y="457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B3C"/>
                </a:solidFill>
                <a:latin typeface="Arial"/>
                <a:ea typeface="Arial"/>
                <a:cs typeface="Arial"/>
              </a:defRPr>
            </a:pPr>
            <a:r>
              <a:rPr sz="3300" b="1">
                <a:solidFill>
                  <a:srgbClr val="112B3C"/>
                </a:solidFill>
                <a:latin typeface="Arial"/>
                <a:ea typeface="Arial"/>
                <a:cs typeface="Arial"/>
              </a:rPr>
              <a:t>The tree has the strongest classification F1</a:t>
            </a:r>
          </a:p>
        </p:txBody>
      </p:sp>
      <p:sp>
        <p:nvSpPr>
          <p:cNvPr id="2" name="">
            <a:extLst xmlns:a="http://schemas.openxmlformats.org/drawingml/2006/main">
              <a:ext uri="{FF2B5EF4-FFF2-40B4-BE49-F238E27FC236}">
                <a16:creationId xmlns:a16="http://schemas.microsoft.com/office/drawing/2014/main" id="{F673EC5C-EE56-4636-A119-8A8063356AC0}"/>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07</a:t>
            </a:r>
          </a:p>
        </p:txBody>
      </p:sp>
      <p:graphicFrame>
        <p:nvGraphicFramePr>
          <p:cNvPr id="8" name="Chart"/>
          <p:cNvGraphicFramePr/>
          <p:nvPr/>
        </p:nvGraphicFramePr>
        <p:xfrm>
          <a:off xmlns:a="http://schemas.openxmlformats.org/drawingml/2006/main" x="609600" y="1524000"/>
          <a:ext xmlns:a="http://schemas.openxmlformats.org/drawingml/2006/main" cx="6572250" cy="3762375"/>
        </p:xfrm>
        <a:graphic xmlns:a="http://schemas.openxmlformats.org/drawingml/2006/main">
          <a:graphicData uri="http://schemas.openxmlformats.org/drawingml/2006/chart">
            <c:chart xmlns:r="http://schemas.openxmlformats.org/officeDocument/2006/relationships" xmlns:c="http://schemas.openxmlformats.org/drawingml/2006/chart" r:id="R2db83e34fe3f4995"/>
          </a:graphicData>
        </a:graphic>
      </p:graphicFrame>
      <p:graphicFrame>
        <p:nvGraphicFramePr>
          <p:cNvPr id="9" name=""/>
          <p:cNvGraphicFramePr/>
          <p:nvPr/>
        </p:nvGraphicFramePr>
        <p:xfrm>
          <a:off xmlns:a="http://schemas.openxmlformats.org/drawingml/2006/main" x="7477125" y="1857375"/>
          <a:ext xmlns:a="http://schemas.openxmlformats.org/drawingml/2006/main" cx="4095750" cy="2543175"/>
        </p:xfrm>
        <a:graphic xmlns:a="http://schemas.openxmlformats.org/drawingml/2006/main">
          <a:graphicData uri="http://schemas.openxmlformats.org/drawingml/2006/table">
            <a:tbl>
              <a:tblPr/>
              <a:tblGrid>
                <a:gridCol w="1962150"/>
                <a:gridCol w="990600"/>
                <a:gridCol w="1143000"/>
              </a:tblGrid>
              <a:tr h="635794">
                <a:tc>
                  <a:txBody>
                    <a:bodyPr/>
                    <a:lstStyle/>
                    <a:p>
                      <a:r>
                        <a:rPr sz="1725" b="1">
                          <a:solidFill>
                            <a:srgbClr val="FFFFFF"/>
                          </a:solidFill>
                          <a:latin typeface="Arial"/>
                          <a:ea typeface="Arial"/>
                          <a:cs typeface="Arial"/>
                        </a:rPr>
                        <a:t>NumPy model</a:t>
                      </a:r>
                    </a:p>
                  </a:txBody>
                  <a:tcPr marL="91440" marR="91440" marT="45720" marB="45720">
                    <a:solidFill>
                      <a:srgbClr val="112B3C"/>
                    </a:solidFill>
                  </a:tcPr>
                </a:tc>
                <a:tc>
                  <a:txBody>
                    <a:bodyPr/>
                    <a:lstStyle/>
                    <a:p>
                      <a:r>
                        <a:rPr sz="1725" b="1">
                          <a:solidFill>
                            <a:srgbClr val="FFFFFF"/>
                          </a:solidFill>
                          <a:latin typeface="Arial"/>
                          <a:ea typeface="Arial"/>
                          <a:cs typeface="Arial"/>
                        </a:rPr>
                        <a:t>F1</a:t>
                      </a:r>
                    </a:p>
                  </a:txBody>
                  <a:tcPr marL="91440" marR="91440" marT="45720" marB="45720">
                    <a:solidFill>
                      <a:srgbClr val="112B3C"/>
                    </a:solidFill>
                  </a:tcPr>
                </a:tc>
                <a:tc>
                  <a:txBody>
                    <a:bodyPr/>
                    <a:lstStyle/>
                    <a:p>
                      <a:r>
                        <a:rPr sz="1725" b="1">
                          <a:solidFill>
                            <a:srgbClr val="FFFFFF"/>
                          </a:solidFill>
                          <a:latin typeface="Arial"/>
                          <a:ea typeface="Arial"/>
                          <a:cs typeface="Arial"/>
                        </a:rPr>
                        <a:t>AUC</a:t>
                      </a:r>
                    </a:p>
                  </a:txBody>
                  <a:tcPr marL="91440" marR="91440" marT="45720" marB="45720">
                    <a:solidFill>
                      <a:srgbClr val="112B3C"/>
                    </a:solidFill>
                  </a:tcPr>
                </a:tc>
              </a:tr>
              <a:tr h="635794">
                <a:tc>
                  <a:txBody>
                    <a:bodyPr/>
                    <a:lstStyle/>
                    <a:p>
                      <a:r>
                        <a:rPr sz="1725" b="0">
                          <a:solidFill>
                            <a:srgbClr val="112B3C"/>
                          </a:solidFill>
                          <a:latin typeface="Arial"/>
                          <a:ea typeface="Arial"/>
                          <a:cs typeface="Arial"/>
                        </a:rPr>
                        <a:t>Tree</a:t>
                      </a:r>
                    </a:p>
                  </a:txBody>
                  <a:tcPr marL="91440" marR="91440" marT="45720" marB="45720">
                    <a:solidFill>
                      <a:srgbClr val="FFFFFF"/>
                    </a:solidFill>
                  </a:tcPr>
                </a:tc>
                <a:tc>
                  <a:txBody>
                    <a:bodyPr/>
                    <a:lstStyle/>
                    <a:p>
                      <a:r>
                        <a:rPr sz="1725" b="0">
                          <a:solidFill>
                            <a:srgbClr val="112B3C"/>
                          </a:solidFill>
                          <a:latin typeface="Arial"/>
                          <a:ea typeface="Arial"/>
                          <a:cs typeface="Arial"/>
                        </a:rPr>
                        <a:t>0.9068</a:t>
                      </a:r>
                    </a:p>
                  </a:txBody>
                  <a:tcPr marL="91440" marR="91440" marT="45720" marB="45720">
                    <a:solidFill>
                      <a:srgbClr val="FFFFFF"/>
                    </a:solidFill>
                  </a:tcPr>
                </a:tc>
                <a:tc>
                  <a:txBody>
                    <a:bodyPr/>
                    <a:lstStyle/>
                    <a:p>
                      <a:r>
                        <a:rPr sz="1725" b="0">
                          <a:solidFill>
                            <a:srgbClr val="112B3C"/>
                          </a:solidFill>
                          <a:latin typeface="Arial"/>
                          <a:ea typeface="Arial"/>
                          <a:cs typeface="Arial"/>
                        </a:rPr>
                        <a:t>0.9594</a:t>
                      </a:r>
                    </a:p>
                  </a:txBody>
                  <a:tcPr marL="91440" marR="91440" marT="45720" marB="45720">
                    <a:solidFill>
                      <a:srgbClr val="FFFFFF"/>
                    </a:solidFill>
                  </a:tcPr>
                </a:tc>
              </a:tr>
              <a:tr h="635794">
                <a:tc>
                  <a:txBody>
                    <a:bodyPr/>
                    <a:lstStyle/>
                    <a:p>
                      <a:r>
                        <a:rPr sz="1725" b="0">
                          <a:solidFill>
                            <a:srgbClr val="112B3C"/>
                          </a:solidFill>
                          <a:latin typeface="Arial"/>
                          <a:ea typeface="Arial"/>
                          <a:cs typeface="Arial"/>
                        </a:rPr>
                        <a:t>Linear SVM</a:t>
                      </a:r>
                    </a:p>
                  </a:txBody>
                  <a:tcPr marL="91440" marR="91440" marT="45720" marB="45720">
                    <a:solidFill>
                      <a:srgbClr val="EAF0F0"/>
                    </a:solidFill>
                  </a:tcPr>
                </a:tc>
                <a:tc>
                  <a:txBody>
                    <a:bodyPr/>
                    <a:lstStyle/>
                    <a:p>
                      <a:r>
                        <a:rPr sz="1725" b="0">
                          <a:solidFill>
                            <a:srgbClr val="112B3C"/>
                          </a:solidFill>
                          <a:latin typeface="Arial"/>
                          <a:ea typeface="Arial"/>
                          <a:cs typeface="Arial"/>
                        </a:rPr>
                        <a:t>0.8553</a:t>
                      </a:r>
                    </a:p>
                  </a:txBody>
                  <a:tcPr marL="91440" marR="91440" marT="45720" marB="45720">
                    <a:solidFill>
                      <a:srgbClr val="EAF0F0"/>
                    </a:solidFill>
                  </a:tcPr>
                </a:tc>
                <a:tc>
                  <a:txBody>
                    <a:bodyPr/>
                    <a:lstStyle/>
                    <a:p>
                      <a:r>
                        <a:rPr sz="1725" b="0">
                          <a:solidFill>
                            <a:srgbClr val="112B3C"/>
                          </a:solidFill>
                          <a:latin typeface="Arial"/>
                          <a:ea typeface="Arial"/>
                          <a:cs typeface="Arial"/>
                        </a:rPr>
                        <a:t>0.9320</a:t>
                      </a:r>
                    </a:p>
                  </a:txBody>
                  <a:tcPr marL="91440" marR="91440" marT="45720" marB="45720">
                    <a:solidFill>
                      <a:srgbClr val="EAF0F0"/>
                    </a:solidFill>
                  </a:tcPr>
                </a:tc>
              </a:tr>
              <a:tr h="635794">
                <a:tc>
                  <a:txBody>
                    <a:bodyPr/>
                    <a:lstStyle/>
                    <a:p>
                      <a:r>
                        <a:rPr sz="1725" b="0">
                          <a:solidFill>
                            <a:srgbClr val="112B3C"/>
                          </a:solidFill>
                          <a:latin typeface="Arial"/>
                          <a:ea typeface="Arial"/>
                          <a:cs typeface="Arial"/>
                        </a:rPr>
                        <a:t>RFF SVM</a:t>
                      </a:r>
                    </a:p>
                  </a:txBody>
                  <a:tcPr marL="91440" marR="91440" marT="45720" marB="45720">
                    <a:solidFill>
                      <a:srgbClr val="FFFFFF"/>
                    </a:solidFill>
                  </a:tcPr>
                </a:tc>
                <a:tc>
                  <a:txBody>
                    <a:bodyPr/>
                    <a:lstStyle/>
                    <a:p>
                      <a:r>
                        <a:rPr sz="1725" b="0">
                          <a:solidFill>
                            <a:srgbClr val="112B3C"/>
                          </a:solidFill>
                          <a:latin typeface="Arial"/>
                          <a:ea typeface="Arial"/>
                          <a:cs typeface="Arial"/>
                        </a:rPr>
                        <a:t>0.8478</a:t>
                      </a:r>
                    </a:p>
                  </a:txBody>
                  <a:tcPr marL="91440" marR="91440" marT="45720" marB="45720">
                    <a:solidFill>
                      <a:srgbClr val="FFFFFF"/>
                    </a:solidFill>
                  </a:tcPr>
                </a:tc>
                <a:tc>
                  <a:txBody>
                    <a:bodyPr/>
                    <a:lstStyle/>
                    <a:p>
                      <a:r>
                        <a:rPr sz="1725" b="0">
                          <a:solidFill>
                            <a:srgbClr val="112B3C"/>
                          </a:solidFill>
                          <a:latin typeface="Arial"/>
                          <a:ea typeface="Arial"/>
                          <a:cs typeface="Arial"/>
                        </a:rPr>
                        <a:t>0.9275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BB84D56-CEA7-4DD3-8FF4-18CC22726CDA}"/>
              </a:ext>
            </a:extLst>
          </p:cNvPr>
          <p:cNvSpPr>
            <a:spLocks xmlns:a="http://schemas.openxmlformats.org/drawingml/2006/main" noGrp="1"/>
          </p:cNvSpPr>
          <p:nvPr/>
        </p:nvSpPr>
        <p:spPr>
          <a:xfrm xmlns:a="http://schemas.openxmlformats.org/drawingml/2006/main">
            <a:off x="609600" y="56102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976"/>
                </a:solidFill>
                <a:latin typeface="Arial"/>
                <a:ea typeface="Arial"/>
                <a:cs typeface="Arial"/>
              </a:defRPr>
            </a:pPr>
            <a:r>
              <a:rPr sz="1875" b="0">
                <a:solidFill>
                  <a:srgbClr val="526976"/>
                </a:solidFill>
                <a:latin typeface="Arial"/>
                <a:ea typeface="Arial"/>
                <a:cs typeface="Arial"/>
              </a:rPr>
              <a:t>Test set: 9,669 listings. Higher F1 and ROC-AUC are better.</a:t>
            </a:r>
          </a:p>
        </p:txBody>
      </p:sp>
    </p:spTree>
    <p:extLst>
      <p:ext uri="{BB962C8B-B14F-4D97-AF65-F5344CB8AC3E}">
        <p14:creationId xmlns:p14="http://schemas.microsoft.com/office/powerpoint/2010/main" val="1133256014"/>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07F9DB-5563-49AA-8847-0842E5B2C3C7}"/>
              </a:ext>
            </a:extLst>
          </p:cNvPr>
          <p:cNvSpPr>
            <a:spLocks xmlns:a="http://schemas.openxmlformats.org/drawingml/2006/main" noGrp="1"/>
          </p:cNvSpPr>
          <p:nvPr/>
        </p:nvSpPr>
        <p:spPr>
          <a:xfrm xmlns:a="http://schemas.openxmlformats.org/drawingml/2006/main">
            <a:off x="609600" y="457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B3C"/>
                </a:solidFill>
                <a:latin typeface="Arial"/>
                <a:ea typeface="Arial"/>
                <a:cs typeface="Arial"/>
              </a:defRPr>
            </a:pPr>
            <a:r>
              <a:rPr sz="3300" b="1">
                <a:solidFill>
                  <a:srgbClr val="112B3C"/>
                </a:solidFill>
                <a:latin typeface="Arial"/>
                <a:ea typeface="Arial"/>
                <a:cs typeface="Arial"/>
              </a:rPr>
              <a:t>Regression improves on constant predictions</a:t>
            </a:r>
          </a:p>
        </p:txBody>
      </p:sp>
      <p:sp>
        <p:nvSpPr>
          <p:cNvPr id="2" name="">
            <a:extLst xmlns:a="http://schemas.openxmlformats.org/drawingml/2006/main">
              <a:ext uri="{FF2B5EF4-FFF2-40B4-BE49-F238E27FC236}">
                <a16:creationId xmlns:a16="http://schemas.microsoft.com/office/drawing/2014/main" id="{9A2F0AF4-FEC1-4144-AD08-979BD5196249}"/>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C4452D7-916B-4235-994D-335A94DC9740}"/>
              </a:ext>
            </a:extLst>
          </p:cNvPr>
          <p:cNvSpPr>
            <a:spLocks xmlns:a="http://schemas.openxmlformats.org/drawingml/2006/main" noGrp="1"/>
          </p:cNvSpPr>
          <p:nvPr/>
        </p:nvSpPr>
        <p:spPr>
          <a:xfrm xmlns:a="http://schemas.openxmlformats.org/drawingml/2006/main">
            <a:off x="609600" y="1381125"/>
            <a:ext cx="647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976"/>
                </a:solidFill>
                <a:latin typeface="Arial"/>
                <a:ea typeface="Arial"/>
                <a:cs typeface="Arial"/>
              </a:defRPr>
            </a:pPr>
            <a:r>
              <a:rPr sz="1800" b="0">
                <a:solidFill>
                  <a:srgbClr val="526976"/>
                </a:solidFill>
                <a:latin typeface="Arial"/>
                <a:ea typeface="Arial"/>
                <a:cs typeface="Arial"/>
              </a:rPr>
              <a:t>Test log-RMSE (lower is better)</a:t>
            </a:r>
          </a:p>
        </p:txBody>
      </p:sp>
      <p:graphicFrame>
        <p:nvGraphicFramePr>
          <p:cNvPr id="12" name="Chart"/>
          <p:cNvGraphicFramePr/>
          <p:nvPr/>
        </p:nvGraphicFramePr>
        <p:xfrm>
          <a:off xmlns:a="http://schemas.openxmlformats.org/drawingml/2006/main" x="609600" y="1762125"/>
          <a:ext xmlns:a="http://schemas.openxmlformats.org/drawingml/2006/main" cx="6286500" cy="3381375"/>
        </p:xfrm>
        <a:graphic xmlns:a="http://schemas.openxmlformats.org/drawingml/2006/main">
          <a:graphicData uri="http://schemas.openxmlformats.org/drawingml/2006/chart">
            <c:chart xmlns:r="http://schemas.openxmlformats.org/officeDocument/2006/relationships" xmlns:c="http://schemas.openxmlformats.org/drawingml/2006/chart" r:id="R2e62e607d7ae4a7e"/>
          </a:graphicData>
        </a:graphic>
      </p:graphicFrame>
      <p:sp>
        <p:nvSpPr>
          <p:cNvPr id="5" name="">
            <a:extLst xmlns:a="http://schemas.openxmlformats.org/drawingml/2006/main">
              <a:ext uri="{FF2B5EF4-FFF2-40B4-BE49-F238E27FC236}">
                <a16:creationId xmlns:a16="http://schemas.microsoft.com/office/drawing/2014/main" id="{BDFE7F25-95F8-48AC-AFDF-617D897A2144}"/>
              </a:ext>
            </a:extLst>
          </p:cNvPr>
          <p:cNvSpPr>
            <a:spLocks xmlns:a="http://schemas.openxmlformats.org/drawingml/2006/main" noGrp="1"/>
          </p:cNvSpPr>
          <p:nvPr/>
        </p:nvSpPr>
        <p:spPr>
          <a:xfrm xmlns:a="http://schemas.openxmlformats.org/drawingml/2006/main">
            <a:off x="7477125" y="17526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8C83"/>
                </a:solidFill>
                <a:latin typeface="Arial"/>
                <a:ea typeface="Arial"/>
                <a:cs typeface="Arial"/>
              </a:defRPr>
            </a:pPr>
            <a:r>
              <a:rPr sz="2850" b="1">
                <a:solidFill>
                  <a:srgbClr val="008C83"/>
                </a:solidFill>
                <a:latin typeface="Arial"/>
                <a:ea typeface="Arial"/>
                <a:cs typeface="Arial"/>
              </a:rPr>
              <a:t>35.5% lower MAE</a:t>
            </a:r>
          </a:p>
        </p:txBody>
      </p:sp>
      <p:sp>
        <p:nvSpPr>
          <p:cNvPr id="6" name="">
            <a:extLst xmlns:a="http://schemas.openxmlformats.org/drawingml/2006/main">
              <a:ext uri="{FF2B5EF4-FFF2-40B4-BE49-F238E27FC236}">
                <a16:creationId xmlns:a16="http://schemas.microsoft.com/office/drawing/2014/main" id="{DBE73CA3-C933-4CF6-B6C4-A9A35AB7F832}"/>
              </a:ext>
            </a:extLst>
          </p:cNvPr>
          <p:cNvSpPr>
            <a:spLocks xmlns:a="http://schemas.openxmlformats.org/drawingml/2006/main" noGrp="1"/>
          </p:cNvSpPr>
          <p:nvPr/>
        </p:nvSpPr>
        <p:spPr>
          <a:xfrm xmlns:a="http://schemas.openxmlformats.org/drawingml/2006/main">
            <a:off x="7477125" y="2476500"/>
            <a:ext cx="4000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Compared with the training-median</a:t>
            </a:r>
          </a:p>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baseline on the test set.</a:t>
            </a:r>
          </a:p>
        </p:txBody>
      </p:sp>
      <p:graphicFrame>
        <p:nvGraphicFramePr>
          <p:cNvPr id="15" name=""/>
          <p:cNvGraphicFramePr/>
          <p:nvPr/>
        </p:nvGraphicFramePr>
        <p:xfrm>
          <a:off xmlns:a="http://schemas.openxmlformats.org/drawingml/2006/main" x="7477125" y="3686175"/>
          <a:ext xmlns:a="http://schemas.openxmlformats.org/drawingml/2006/main" cx="4095750" cy="2028825"/>
        </p:xfrm>
        <a:graphic xmlns:a="http://schemas.openxmlformats.org/drawingml/2006/main">
          <a:graphicData uri="http://schemas.openxmlformats.org/drawingml/2006/table">
            <a:tbl>
              <a:tblPr/>
              <a:tblGrid>
                <a:gridCol w="2000250"/>
                <a:gridCol w="2095500"/>
              </a:tblGrid>
              <a:tr h="507206">
                <a:tc>
                  <a:txBody>
                    <a:bodyPr/>
                    <a:lstStyle/>
                    <a:p>
                      <a:r>
                        <a:rPr sz="1725" b="1">
                          <a:solidFill>
                            <a:srgbClr val="FFFFFF"/>
                          </a:solidFill>
                          <a:latin typeface="Arial"/>
                          <a:ea typeface="Arial"/>
                          <a:cs typeface="Arial"/>
                        </a:rPr>
                        <a:t>Test metric</a:t>
                      </a:r>
                    </a:p>
                  </a:txBody>
                  <a:tcPr marL="91440" marR="91440" marT="45720" marB="45720">
                    <a:solidFill>
                      <a:srgbClr val="112B3C"/>
                    </a:solidFill>
                  </a:tcPr>
                </a:tc>
                <a:tc>
                  <a:txBody>
                    <a:bodyPr/>
                    <a:lstStyle/>
                    <a:p>
                      <a:r>
                        <a:rPr sz="1725" b="1">
                          <a:solidFill>
                            <a:srgbClr val="FFFFFF"/>
                          </a:solidFill>
                          <a:latin typeface="Arial"/>
                          <a:ea typeface="Arial"/>
                          <a:cs typeface="Arial"/>
                        </a:rPr>
                        <a:t>NumPy tree</a:t>
                      </a:r>
                    </a:p>
                  </a:txBody>
                  <a:tcPr marL="91440" marR="91440" marT="45720" marB="45720">
                    <a:solidFill>
                      <a:srgbClr val="112B3C"/>
                    </a:solidFill>
                  </a:tcPr>
                </a:tc>
              </a:tr>
              <a:tr h="507206">
                <a:tc>
                  <a:txBody>
                    <a:bodyPr/>
                    <a:lstStyle/>
                    <a:p>
                      <a:r>
                        <a:rPr sz="1725" b="0">
                          <a:solidFill>
                            <a:srgbClr val="112B3C"/>
                          </a:solidFill>
                          <a:latin typeface="Arial"/>
                          <a:ea typeface="Arial"/>
                          <a:cs typeface="Arial"/>
                        </a:rPr>
                        <a:t>MAE</a:t>
                      </a:r>
                    </a:p>
                  </a:txBody>
                  <a:tcPr marL="91440" marR="91440" marT="45720" marB="45720">
                    <a:solidFill>
                      <a:srgbClr val="FFFFFF"/>
                    </a:solidFill>
                  </a:tcPr>
                </a:tc>
                <a:tc>
                  <a:txBody>
                    <a:bodyPr/>
                    <a:lstStyle/>
                    <a:p>
                      <a:r>
                        <a:rPr sz="1725" b="0">
                          <a:solidFill>
                            <a:srgbClr val="112B3C"/>
                          </a:solidFill>
                          <a:latin typeface="Arial"/>
                          <a:ea typeface="Arial"/>
                          <a:cs typeface="Arial"/>
                        </a:rPr>
                        <a:t>185,430 AZN</a:t>
                      </a:r>
                    </a:p>
                  </a:txBody>
                  <a:tcPr marL="91440" marR="91440" marT="45720" marB="45720">
                    <a:solidFill>
                      <a:srgbClr val="FFFFFF"/>
                    </a:solidFill>
                  </a:tcPr>
                </a:tc>
              </a:tr>
              <a:tr h="507206">
                <a:tc>
                  <a:txBody>
                    <a:bodyPr/>
                    <a:lstStyle/>
                    <a:p>
                      <a:r>
                        <a:rPr sz="1725" b="0">
                          <a:solidFill>
                            <a:srgbClr val="112B3C"/>
                          </a:solidFill>
                          <a:latin typeface="Arial"/>
                          <a:ea typeface="Arial"/>
                          <a:cs typeface="Arial"/>
                        </a:rPr>
                        <a:t>RMSE</a:t>
                      </a:r>
                    </a:p>
                  </a:txBody>
                  <a:tcPr marL="91440" marR="91440" marT="45720" marB="45720">
                    <a:solidFill>
                      <a:srgbClr val="EAF0F0"/>
                    </a:solidFill>
                  </a:tcPr>
                </a:tc>
                <a:tc>
                  <a:txBody>
                    <a:bodyPr/>
                    <a:lstStyle/>
                    <a:p>
                      <a:r>
                        <a:rPr sz="1725" b="0">
                          <a:solidFill>
                            <a:srgbClr val="112B3C"/>
                          </a:solidFill>
                          <a:latin typeface="Arial"/>
                          <a:ea typeface="Arial"/>
                          <a:cs typeface="Arial"/>
                        </a:rPr>
                        <a:t>6,184,534 AZN</a:t>
                      </a:r>
                    </a:p>
                  </a:txBody>
                  <a:tcPr marL="91440" marR="91440" marT="45720" marB="45720">
                    <a:solidFill>
                      <a:srgbClr val="EAF0F0"/>
                    </a:solidFill>
                  </a:tcPr>
                </a:tc>
              </a:tr>
              <a:tr h="507206">
                <a:tc>
                  <a:txBody>
                    <a:bodyPr/>
                    <a:lstStyle/>
                    <a:p>
                      <a:r>
                        <a:rPr sz="1725" b="0">
                          <a:solidFill>
                            <a:srgbClr val="112B3C"/>
                          </a:solidFill>
                          <a:latin typeface="Arial"/>
                          <a:ea typeface="Arial"/>
                          <a:cs typeface="Arial"/>
                        </a:rPr>
                        <a:t>R²</a:t>
                      </a:r>
                    </a:p>
                  </a:txBody>
                  <a:tcPr marL="91440" marR="91440" marT="45720" marB="45720">
                    <a:solidFill>
                      <a:srgbClr val="FFFFFF"/>
                    </a:solidFill>
                  </a:tcPr>
                </a:tc>
                <a:tc>
                  <a:txBody>
                    <a:bodyPr/>
                    <a:lstStyle/>
                    <a:p>
                      <a:r>
                        <a:rPr sz="1725" b="0">
                          <a:solidFill>
                            <a:srgbClr val="112B3C"/>
                          </a:solidFill>
                          <a:latin typeface="Arial"/>
                          <a:ea typeface="Arial"/>
                          <a:cs typeface="Arial"/>
                        </a:rPr>
                        <a:t>0.0105</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BBED081-A34A-4D1F-99C5-C780DF5FCF65}"/>
              </a:ext>
            </a:extLst>
          </p:cNvPr>
          <p:cNvSpPr>
            <a:spLocks xmlns:a="http://schemas.openxmlformats.org/drawingml/2006/main" noGrp="1"/>
          </p:cNvSpPr>
          <p:nvPr/>
        </p:nvSpPr>
        <p:spPr>
          <a:xfrm xmlns:a="http://schemas.openxmlformats.org/drawingml/2006/main">
            <a:off x="609600" y="58959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976"/>
                </a:solidFill>
                <a:latin typeface="Arial"/>
                <a:ea typeface="Arial"/>
                <a:cs typeface="Arial"/>
              </a:defRPr>
            </a:pPr>
            <a:r>
              <a:rPr sz="1800" b="0">
                <a:solidFill>
                  <a:srgbClr val="526976"/>
                </a:solidFill>
                <a:latin typeface="Arial"/>
                <a:ea typeface="Arial"/>
                <a:cs typeface="Arial"/>
              </a:rPr>
              <a:t>Validation log-RMSE: 0.3814 for the tree, compared with 0.8035 for the median baseline.</a:t>
            </a:r>
          </a:p>
        </p:txBody>
      </p:sp>
    </p:spTree>
    <p:extLst>
      <p:ext uri="{BB962C8B-B14F-4D97-AF65-F5344CB8AC3E}">
        <p14:creationId xmlns:p14="http://schemas.microsoft.com/office/powerpoint/2010/main" val="1289941193"/>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83A072-A8B9-4917-9842-1029F2857A02}"/>
              </a:ext>
            </a:extLst>
          </p:cNvPr>
          <p:cNvSpPr>
            <a:spLocks xmlns:a="http://schemas.openxmlformats.org/drawingml/2006/main" noGrp="1"/>
          </p:cNvSpPr>
          <p:nvPr/>
        </p:nvSpPr>
        <p:spPr>
          <a:xfrm xmlns:a="http://schemas.openxmlformats.org/drawingml/2006/main">
            <a:off x="609600" y="457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12B3C"/>
                </a:solidFill>
                <a:latin typeface="Arial"/>
                <a:ea typeface="Arial"/>
                <a:cs typeface="Arial"/>
              </a:defRPr>
            </a:pPr>
            <a:r>
              <a:rPr sz="3300" b="1">
                <a:solidFill>
                  <a:srgbClr val="112B3C"/>
                </a:solidFill>
                <a:latin typeface="Arial"/>
                <a:ea typeface="Arial"/>
                <a:cs typeface="Arial"/>
              </a:rPr>
              <a:t>Extreme prices limit the regression result</a:t>
            </a:r>
          </a:p>
        </p:txBody>
      </p:sp>
      <p:sp>
        <p:nvSpPr>
          <p:cNvPr id="2" name="">
            <a:extLst xmlns:a="http://schemas.openxmlformats.org/drawingml/2006/main">
              <a:ext uri="{FF2B5EF4-FFF2-40B4-BE49-F238E27FC236}">
                <a16:creationId xmlns:a16="http://schemas.microsoft.com/office/drawing/2014/main" id="{E9DB2D75-0496-40B4-B4DD-8C45F03BCC2A}"/>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6"/>
                </a:solidFill>
                <a:latin typeface="Arial"/>
                <a:ea typeface="Arial"/>
                <a:cs typeface="Arial"/>
              </a:defRPr>
            </a:pPr>
            <a:r>
              <a:rPr sz="1350" b="0">
                <a:solidFill>
                  <a:srgbClr val="526976"/>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CB39727-6307-409E-B25C-2F09726997D7}"/>
              </a:ext>
            </a:extLst>
          </p:cNvPr>
          <p:cNvSpPr>
            <a:spLocks xmlns:a="http://schemas.openxmlformats.org/drawingml/2006/main" noGrp="1"/>
          </p:cNvSpPr>
          <p:nvPr/>
        </p:nvSpPr>
        <p:spPr>
          <a:xfrm xmlns:a="http://schemas.openxmlformats.org/drawingml/2006/main">
            <a:off x="609600" y="1571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16A89"/>
                </a:solidFill>
                <a:latin typeface="Arial"/>
                <a:ea typeface="Arial"/>
                <a:cs typeface="Arial"/>
              </a:defRPr>
            </a:pPr>
            <a:r>
              <a:rPr sz="4950" b="1">
                <a:solidFill>
                  <a:srgbClr val="216A89"/>
                </a:solidFill>
                <a:latin typeface="Arial"/>
                <a:ea typeface="Arial"/>
                <a:cs typeface="Arial"/>
              </a:rPr>
              <a:t>600,000,000 AZN</a:t>
            </a:r>
          </a:p>
        </p:txBody>
      </p:sp>
      <p:sp>
        <p:nvSpPr>
          <p:cNvPr id="4" name="">
            <a:extLst xmlns:a="http://schemas.openxmlformats.org/drawingml/2006/main">
              <a:ext uri="{FF2B5EF4-FFF2-40B4-BE49-F238E27FC236}">
                <a16:creationId xmlns:a16="http://schemas.microsoft.com/office/drawing/2014/main" id="{0555D971-ADDD-435A-8E50-08F39D05A250}"/>
              </a:ext>
            </a:extLst>
          </p:cNvPr>
          <p:cNvSpPr>
            <a:spLocks xmlns:a="http://schemas.openxmlformats.org/drawingml/2006/main" noGrp="1"/>
          </p:cNvSpPr>
          <p:nvPr/>
        </p:nvSpPr>
        <p:spPr>
          <a:xfrm xmlns:a="http://schemas.openxmlformats.org/drawingml/2006/main">
            <a:off x="647700" y="25431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12B3C"/>
                </a:solidFill>
                <a:latin typeface="Arial"/>
                <a:ea typeface="Arial"/>
                <a:cs typeface="Arial"/>
              </a:defRPr>
            </a:pPr>
            <a:r>
              <a:rPr sz="2325" b="0">
                <a:solidFill>
                  <a:srgbClr val="112B3C"/>
                </a:solidFill>
                <a:latin typeface="Arial"/>
                <a:ea typeface="Arial"/>
                <a:cs typeface="Arial"/>
              </a:rPr>
              <a:t>A 200 m² apartment in the original dataset</a:t>
            </a:r>
          </a:p>
        </p:txBody>
      </p:sp>
      <p:sp>
        <p:nvSpPr>
          <p:cNvPr id="5" name="">
            <a:extLst xmlns:a="http://schemas.openxmlformats.org/drawingml/2006/main">
              <a:ext uri="{FF2B5EF4-FFF2-40B4-BE49-F238E27FC236}">
                <a16:creationId xmlns:a16="http://schemas.microsoft.com/office/drawing/2014/main" id="{B00FEECB-6D59-4E45-A1FC-82B2D463CC42}"/>
              </a:ext>
            </a:extLst>
          </p:cNvPr>
          <p:cNvSpPr>
            <a:spLocks xmlns:a="http://schemas.openxmlformats.org/drawingml/2006/main" noGrp="1"/>
          </p:cNvSpPr>
          <p:nvPr/>
        </p:nvSpPr>
        <p:spPr>
          <a:xfrm xmlns:a="http://schemas.openxmlformats.org/drawingml/2006/main">
            <a:off x="609600" y="352425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008C83"/>
                </a:solidFill>
                <a:latin typeface="Arial"/>
                <a:ea typeface="Arial"/>
                <a:cs typeface="Arial"/>
              </a:defRPr>
            </a:pPr>
            <a:r>
              <a:rPr sz="4800" b="1">
                <a:solidFill>
                  <a:srgbClr val="008C83"/>
                </a:solidFill>
                <a:latin typeface="Arial"/>
                <a:ea typeface="Arial"/>
                <a:cs typeface="Arial"/>
              </a:rPr>
              <a:t>99.97%</a:t>
            </a:r>
          </a:p>
        </p:txBody>
      </p:sp>
      <p:sp>
        <p:nvSpPr>
          <p:cNvPr id="6" name="">
            <a:extLst xmlns:a="http://schemas.openxmlformats.org/drawingml/2006/main">
              <a:ext uri="{FF2B5EF4-FFF2-40B4-BE49-F238E27FC236}">
                <a16:creationId xmlns:a16="http://schemas.microsoft.com/office/drawing/2014/main" id="{7D5A9F36-0CAB-4F4D-BBB9-FAF5C04B21FF}"/>
              </a:ext>
            </a:extLst>
          </p:cNvPr>
          <p:cNvSpPr>
            <a:spLocks xmlns:a="http://schemas.openxmlformats.org/drawingml/2006/main" noGrp="1"/>
          </p:cNvSpPr>
          <p:nvPr/>
        </p:nvSpPr>
        <p:spPr>
          <a:xfrm xmlns:a="http://schemas.openxmlformats.org/drawingml/2006/main">
            <a:off x="647700" y="4467225"/>
            <a:ext cx="5429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of test squared error comes from prices</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above the training 90th percentile.</a:t>
            </a:r>
          </a:p>
        </p:txBody>
      </p:sp>
      <p:sp>
        <p:nvSpPr>
          <p:cNvPr id="7" name="">
            <a:extLst xmlns:a="http://schemas.openxmlformats.org/drawingml/2006/main">
              <a:ext uri="{FF2B5EF4-FFF2-40B4-BE49-F238E27FC236}">
                <a16:creationId xmlns:a16="http://schemas.microsoft.com/office/drawing/2014/main" id="{AB881DF8-58BF-486C-9ECF-A7D9D7127A0D}"/>
              </a:ext>
            </a:extLst>
          </p:cNvPr>
          <p:cNvSpPr>
            <a:spLocks xmlns:a="http://schemas.openxmlformats.org/drawingml/2006/main" noGrp="1"/>
          </p:cNvSpPr>
          <p:nvPr/>
        </p:nvSpPr>
        <p:spPr>
          <a:xfrm xmlns:a="http://schemas.openxmlformats.org/drawingml/2006/main">
            <a:off x="6810375" y="36004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12B3C"/>
                </a:solidFill>
                <a:latin typeface="Arial"/>
                <a:ea typeface="Arial"/>
                <a:cs typeface="Arial"/>
              </a:defRPr>
            </a:pPr>
            <a:r>
              <a:rPr sz="2400" b="1">
                <a:solidFill>
                  <a:srgbClr val="112B3C"/>
                </a:solidFill>
                <a:latin typeface="Arial"/>
                <a:ea typeface="Arial"/>
                <a:cs typeface="Arial"/>
              </a:rPr>
              <a:t>What this means</a:t>
            </a:r>
          </a:p>
        </p:txBody>
      </p:sp>
      <p:sp>
        <p:nvSpPr>
          <p:cNvPr id="8" name="">
            <a:extLst xmlns:a="http://schemas.openxmlformats.org/drawingml/2006/main">
              <a:ext uri="{FF2B5EF4-FFF2-40B4-BE49-F238E27FC236}">
                <a16:creationId xmlns:a16="http://schemas.microsoft.com/office/drawing/2014/main" id="{C8DD8812-B0D2-4EDE-806F-D9CBFF7A9CF3}"/>
              </a:ext>
            </a:extLst>
          </p:cNvPr>
          <p:cNvSpPr>
            <a:spLocks xmlns:a="http://schemas.openxmlformats.org/drawingml/2006/main" noGrp="1"/>
          </p:cNvSpPr>
          <p:nvPr/>
        </p:nvSpPr>
        <p:spPr>
          <a:xfrm xmlns:a="http://schemas.openxmlformats.org/drawingml/2006/main">
            <a:off x="6810375" y="4305300"/>
            <a:ext cx="4714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Some source values look suspicious.</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We do not know the correct prices.</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We keep them in the main results.</a:t>
            </a:r>
          </a:p>
        </p:txBody>
      </p:sp>
      <p:sp>
        <p:nvSpPr>
          <p:cNvPr id="9" name="">
            <a:extLst xmlns:a="http://schemas.openxmlformats.org/drawingml/2006/main">
              <a:ext uri="{FF2B5EF4-FFF2-40B4-BE49-F238E27FC236}">
                <a16:creationId xmlns:a16="http://schemas.microsoft.com/office/drawing/2014/main" id="{A687E969-5846-44A3-BF52-DA9D3843CA95}"/>
              </a:ext>
            </a:extLst>
          </p:cNvPr>
          <p:cNvSpPr>
            <a:spLocks xmlns:a="http://schemas.openxmlformats.org/drawingml/2006/main" noGrp="1"/>
          </p:cNvSpPr>
          <p:nvPr/>
        </p:nvSpPr>
        <p:spPr>
          <a:xfrm xmlns:a="http://schemas.openxmlformats.org/drawingml/2006/main">
            <a:off x="609600" y="59150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976"/>
                </a:solidFill>
                <a:latin typeface="Arial"/>
                <a:ea typeface="Arial"/>
                <a:cs typeface="Arial"/>
              </a:defRPr>
            </a:pPr>
            <a:r>
              <a:rPr sz="1725" b="0">
                <a:solidFill>
                  <a:srgbClr val="526976"/>
                </a:solidFill>
                <a:latin typeface="Arial"/>
                <a:ea typeface="Arial"/>
                <a:cs typeface="Arial"/>
              </a:rPr>
              <a:t>Limits: asking prices, possible duplicate properties, and a test set already seen during development.</a:t>
            </a:r>
          </a:p>
        </p:txBody>
      </p:sp>
    </p:spTree>
    <p:extLst>
      <p:ext uri="{BB962C8B-B14F-4D97-AF65-F5344CB8AC3E}">
        <p14:creationId xmlns:p14="http://schemas.microsoft.com/office/powerpoint/2010/main" val="442940201"/>
      </p:ext>
    </p:extLst>
  </p:cSld>
</p:sld>
</file>

<file path=ppt/slides/slide10.xml><?xml version="1.0" encoding="utf-8"?>
<p:sld xmlns:p="http://schemas.openxmlformats.org/presentationml/2006/main">
  <p:cSld>
    <p:bg>
      <p:bgPr>
        <a:solidFill xmlns:a="http://schemas.openxmlformats.org/drawingml/2006/main">
          <a:srgbClr val="112B3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4E90AE-EAD9-4841-B3DF-9B2DD298EB31}"/>
              </a:ext>
            </a:extLst>
          </p:cNvPr>
          <p:cNvSpPr>
            <a:spLocks xmlns:a="http://schemas.openxmlformats.org/drawingml/2006/main" noGrp="1"/>
          </p:cNvSpPr>
          <p:nvPr/>
        </p:nvSpPr>
        <p:spPr>
          <a:xfrm xmlns:a="http://schemas.openxmlformats.org/drawingml/2006/main">
            <a:off x="609600" y="457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Team responsibilities and next steps</a:t>
            </a:r>
          </a:p>
        </p:txBody>
      </p:sp>
      <p:sp>
        <p:nvSpPr>
          <p:cNvPr id="2" name="">
            <a:extLst xmlns:a="http://schemas.openxmlformats.org/drawingml/2006/main">
              <a:ext uri="{FF2B5EF4-FFF2-40B4-BE49-F238E27FC236}">
                <a16:creationId xmlns:a16="http://schemas.microsoft.com/office/drawing/2014/main" id="{914E715B-E883-4C9A-9F45-02600A35A8CB}"/>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4D7DF"/>
                </a:solidFill>
                <a:latin typeface="Arial"/>
                <a:ea typeface="Arial"/>
                <a:cs typeface="Arial"/>
              </a:defRPr>
            </a:pPr>
            <a:r>
              <a:rPr sz="1350" b="0">
                <a:solidFill>
                  <a:srgbClr val="C4D7DF"/>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107D0B9-9C88-43ED-9A21-4F568AC5F9F5}"/>
              </a:ext>
            </a:extLst>
          </p:cNvPr>
          <p:cNvSpPr>
            <a:spLocks xmlns:a="http://schemas.openxmlformats.org/drawingml/2006/main" noGrp="1"/>
          </p:cNvSpPr>
          <p:nvPr/>
        </p:nvSpPr>
        <p:spPr>
          <a:xfrm xmlns:a="http://schemas.openxmlformats.org/drawingml/2006/main">
            <a:off x="609600" y="176212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0D4C9"/>
                </a:solidFill>
                <a:latin typeface="Arial"/>
                <a:ea typeface="Arial"/>
                <a:cs typeface="Arial"/>
              </a:defRPr>
            </a:pPr>
            <a:r>
              <a:rPr sz="2325" b="1">
                <a:solidFill>
                  <a:srgbClr val="80D4C9"/>
                </a:solidFill>
                <a:latin typeface="Arial"/>
                <a:ea typeface="Arial"/>
                <a:cs typeface="Arial"/>
              </a:rPr>
              <a:t>Yagub Khalilli</a:t>
            </a:r>
          </a:p>
        </p:txBody>
      </p:sp>
      <p:sp>
        <p:nvSpPr>
          <p:cNvPr id="4" name="">
            <a:extLst xmlns:a="http://schemas.openxmlformats.org/drawingml/2006/main">
              <a:ext uri="{FF2B5EF4-FFF2-40B4-BE49-F238E27FC236}">
                <a16:creationId xmlns:a16="http://schemas.microsoft.com/office/drawing/2014/main" id="{A2CB994D-F514-408C-808F-60222DE0AA36}"/>
              </a:ext>
            </a:extLst>
          </p:cNvPr>
          <p:cNvSpPr>
            <a:spLocks xmlns:a="http://schemas.openxmlformats.org/drawingml/2006/main" noGrp="1"/>
          </p:cNvSpPr>
          <p:nvPr/>
        </p:nvSpPr>
        <p:spPr>
          <a:xfrm xmlns:a="http://schemas.openxmlformats.org/drawingml/2006/main">
            <a:off x="609600" y="2505075"/>
            <a:ext cx="34766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Data preparation</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Features and leakage checks</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End-to-end execution</a:t>
            </a:r>
          </a:p>
          <a:p xmlns:a="http://schemas.openxmlformats.org/drawingml/2006/main">
            <a:r>
              <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Present slides 1–3</a:t>
            </a:r>
          </a:p>
        </p:txBody>
      </p:sp>
      <p:sp>
        <p:nvSpPr>
          <p:cNvPr id="5" name="">
            <a:extLst xmlns:a="http://schemas.openxmlformats.org/drawingml/2006/main">
              <a:ext uri="{FF2B5EF4-FFF2-40B4-BE49-F238E27FC236}">
                <a16:creationId xmlns:a16="http://schemas.microsoft.com/office/drawing/2014/main" id="{DACD2D96-B02E-4E1D-AC8E-82562DD14011}"/>
              </a:ext>
            </a:extLst>
          </p:cNvPr>
          <p:cNvSpPr>
            <a:spLocks xmlns:a="http://schemas.openxmlformats.org/drawingml/2006/main" noGrp="1"/>
          </p:cNvSpPr>
          <p:nvPr/>
        </p:nvSpPr>
        <p:spPr>
          <a:xfrm xmlns:a="http://schemas.openxmlformats.org/drawingml/2006/main">
            <a:off x="4429125" y="176212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0D4C9"/>
                </a:solidFill>
                <a:latin typeface="Arial"/>
                <a:ea typeface="Arial"/>
                <a:cs typeface="Arial"/>
              </a:defRPr>
            </a:pPr>
            <a:r>
              <a:rPr sz="2325" b="1">
                <a:solidFill>
                  <a:srgbClr val="80D4C9"/>
                </a:solidFill>
                <a:latin typeface="Arial"/>
                <a:ea typeface="Arial"/>
                <a:cs typeface="Arial"/>
              </a:rPr>
              <a:t>Ruslan Sadigov</a:t>
            </a:r>
          </a:p>
        </p:txBody>
      </p:sp>
      <p:sp>
        <p:nvSpPr>
          <p:cNvPr id="6" name="">
            <a:extLst xmlns:a="http://schemas.openxmlformats.org/drawingml/2006/main">
              <a:ext uri="{FF2B5EF4-FFF2-40B4-BE49-F238E27FC236}">
                <a16:creationId xmlns:a16="http://schemas.microsoft.com/office/drawing/2014/main" id="{8B30B7CE-DD18-4D12-908B-651B66500CF5}"/>
              </a:ext>
            </a:extLst>
          </p:cNvPr>
          <p:cNvSpPr>
            <a:spLocks xmlns:a="http://schemas.openxmlformats.org/drawingml/2006/main" noGrp="1"/>
          </p:cNvSpPr>
          <p:nvPr/>
        </p:nvSpPr>
        <p:spPr>
          <a:xfrm xmlns:a="http://schemas.openxmlformats.org/drawingml/2006/main">
            <a:off x="4429125" y="2505075"/>
            <a:ext cx="34766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Decision tree</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Tree baseline checks</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Error and outlier analysis</a:t>
            </a:r>
          </a:p>
          <a:p xmlns:a="http://schemas.openxmlformats.org/drawingml/2006/main">
            <a:r>
              <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Present slides 4, 7 and 9</a:t>
            </a:r>
          </a:p>
        </p:txBody>
      </p:sp>
      <p:sp>
        <p:nvSpPr>
          <p:cNvPr id="7" name="">
            <a:extLst xmlns:a="http://schemas.openxmlformats.org/drawingml/2006/main">
              <a:ext uri="{FF2B5EF4-FFF2-40B4-BE49-F238E27FC236}">
                <a16:creationId xmlns:a16="http://schemas.microsoft.com/office/drawing/2014/main" id="{F21D4978-9D3F-4CA7-B600-3F4D5D31B70D}"/>
              </a:ext>
            </a:extLst>
          </p:cNvPr>
          <p:cNvSpPr>
            <a:spLocks xmlns:a="http://schemas.openxmlformats.org/drawingml/2006/main" noGrp="1"/>
          </p:cNvSpPr>
          <p:nvPr/>
        </p:nvSpPr>
        <p:spPr>
          <a:xfrm xmlns:a="http://schemas.openxmlformats.org/drawingml/2006/main">
            <a:off x="8248650" y="17621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0D4C9"/>
                </a:solidFill>
                <a:latin typeface="Arial"/>
                <a:ea typeface="Arial"/>
                <a:cs typeface="Arial"/>
              </a:defRPr>
            </a:pPr>
            <a:r>
              <a:rPr sz="2325" b="1">
                <a:solidFill>
                  <a:srgbClr val="80D4C9"/>
                </a:solidFill>
                <a:latin typeface="Arial"/>
                <a:ea typeface="Arial"/>
                <a:cs typeface="Arial"/>
              </a:rPr>
              <a:t>Elmir Esgerov</a:t>
            </a:r>
          </a:p>
        </p:txBody>
      </p:sp>
      <p:sp>
        <p:nvSpPr>
          <p:cNvPr id="8" name="">
            <a:extLst xmlns:a="http://schemas.openxmlformats.org/drawingml/2006/main">
              <a:ext uri="{FF2B5EF4-FFF2-40B4-BE49-F238E27FC236}">
                <a16:creationId xmlns:a16="http://schemas.microsoft.com/office/drawing/2014/main" id="{34236800-418F-464F-99B1-61D113FE6D02}"/>
              </a:ext>
            </a:extLst>
          </p:cNvPr>
          <p:cNvSpPr>
            <a:spLocks xmlns:a="http://schemas.openxmlformats.org/drawingml/2006/main" noGrp="1"/>
          </p:cNvSpPr>
          <p:nvPr/>
        </p:nvSpPr>
        <p:spPr>
          <a:xfrm xmlns:a="http://schemas.openxmlformats.org/drawingml/2006/main">
            <a:off x="8248650" y="2505075"/>
            <a:ext cx="3333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Pegasos SVM and RFF</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Metrics and cross-validation</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SVM baseline checks</a:t>
            </a:r>
          </a:p>
          <a:p xmlns:a="http://schemas.openxmlformats.org/drawingml/2006/main">
            <a:r>
              <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Present slides 5, 6 and 8</a:t>
            </a:r>
          </a:p>
        </p:txBody>
      </p:sp>
      <p:sp>
        <p:nvSpPr>
          <p:cNvPr id="9" name="">
            <a:extLst xmlns:a="http://schemas.openxmlformats.org/drawingml/2006/main">
              <a:ext uri="{FF2B5EF4-FFF2-40B4-BE49-F238E27FC236}">
                <a16:creationId xmlns:a16="http://schemas.microsoft.com/office/drawing/2014/main" id="{A21E3565-A9BE-4DB7-A148-9C48CAA6D4DC}"/>
              </a:ext>
            </a:extLst>
          </p:cNvPr>
          <p:cNvSpPr>
            <a:spLocks xmlns:a="http://schemas.openxmlformats.org/drawingml/2006/main" noGrp="1"/>
          </p:cNvSpPr>
          <p:nvPr/>
        </p:nvSpPr>
        <p:spPr>
          <a:xfrm xmlns:a="http://schemas.openxmlformats.org/drawingml/2006/main">
            <a:off x="609600" y="528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Shared: review each other’s work and explain the full pipeline.</a:t>
            </a:r>
          </a:p>
        </p:txBody>
      </p:sp>
      <p:sp>
        <p:nvSpPr>
          <p:cNvPr id="10" name="">
            <a:extLst xmlns:a="http://schemas.openxmlformats.org/drawingml/2006/main">
              <a:ext uri="{FF2B5EF4-FFF2-40B4-BE49-F238E27FC236}">
                <a16:creationId xmlns:a16="http://schemas.microsoft.com/office/drawing/2014/main" id="{CAB21B5D-76D9-43D3-9C34-06E9F2EE5B6D}"/>
              </a:ext>
            </a:extLst>
          </p:cNvPr>
          <p:cNvSpPr>
            <a:spLocks xmlns:a="http://schemas.openxmlformats.org/drawingml/2006/main" noGrp="1"/>
          </p:cNvSpPr>
          <p:nvPr/>
        </p:nvSpPr>
        <p:spPr>
          <a:xfrm xmlns:a="http://schemas.openxmlformats.org/drawingml/2006/main">
            <a:off x="609600" y="59055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4D7DF"/>
                </a:solidFill>
                <a:latin typeface="Arial"/>
                <a:ea typeface="Arial"/>
                <a:cs typeface="Arial"/>
              </a:defRPr>
            </a:pPr>
            <a:r>
              <a:rPr sz="1875" b="0">
                <a:solidFill>
                  <a:srgbClr val="C4D7DF"/>
                </a:solidFill>
                <a:latin typeface="Arial"/>
                <a:ea typeface="Arial"/>
                <a:cs typeface="Arial"/>
              </a:rPr>
              <a:t>Next: verify unusual listings and evaluate on a new time period.</a:t>
            </a:r>
          </a:p>
        </p:txBody>
      </p:sp>
    </p:spTree>
    <p:extLst>
      <p:ext uri="{BB962C8B-B14F-4D97-AF65-F5344CB8AC3E}">
        <p14:creationId xmlns:p14="http://schemas.microsoft.com/office/powerpoint/2010/main" val="5049565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2026-10-07T17:14:18.6410000Z</dcterms:created>
  <dcterms:modified xsi:type="dcterms:W3CDTF">2026-10-07T17:14:18.6410000Z</dcterms:modified>
</coreProperties>
</file>